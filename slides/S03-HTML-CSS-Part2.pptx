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256" r:id="rId2"/>
    <p:sldId id="304" r:id="rId3"/>
    <p:sldId id="262" r:id="rId4"/>
    <p:sldId id="269" r:id="rId5"/>
    <p:sldId id="289" r:id="rId6"/>
    <p:sldId id="291" r:id="rId7"/>
    <p:sldId id="286" r:id="rId8"/>
    <p:sldId id="259" r:id="rId9"/>
    <p:sldId id="305" r:id="rId10"/>
    <p:sldId id="290" r:id="rId11"/>
    <p:sldId id="257" r:id="rId12"/>
    <p:sldId id="284" r:id="rId13"/>
    <p:sldId id="280" r:id="rId14"/>
    <p:sldId id="288" r:id="rId15"/>
  </p:sldIdLst>
  <p:sldSz cx="9144000" cy="5715000" type="screen16x1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B50100-6BA2-4F86-88E7-85EACE384081}" v="3" dt="2025-01-15T04:07:40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9" autoAdjust="0"/>
    <p:restoredTop sz="97059"/>
  </p:normalViewPr>
  <p:slideViewPr>
    <p:cSldViewPr snapToGrid="0" snapToObjects="1">
      <p:cViewPr varScale="1">
        <p:scale>
          <a:sx n="132" d="100"/>
          <a:sy n="132" d="100"/>
        </p:scale>
        <p:origin x="69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EFCF8854-67E5-4E1C-97D0-708377A52303}"/>
    <pc:docChg chg="undo custSel addSld delSld modSld">
      <pc:chgData name="Brandt Redd" userId="be8ed540b98adac0" providerId="LiveId" clId="{EFCF8854-67E5-4E1C-97D0-708377A52303}" dt="2021-01-15T14:42:06.186" v="1704" actId="20577"/>
      <pc:docMkLst>
        <pc:docMk/>
      </pc:docMkLst>
      <pc:sldChg chg="modSp mod">
        <pc:chgData name="Brandt Redd" userId="be8ed540b98adac0" providerId="LiveId" clId="{EFCF8854-67E5-4E1C-97D0-708377A52303}" dt="2021-01-15T05:46:09.868" v="17" actId="20577"/>
        <pc:sldMkLst>
          <pc:docMk/>
          <pc:sldMk cId="1608796581" sldId="256"/>
        </pc:sldMkLst>
      </pc:sldChg>
      <pc:sldChg chg="del">
        <pc:chgData name="Brandt Redd" userId="be8ed540b98adac0" providerId="LiveId" clId="{EFCF8854-67E5-4E1C-97D0-708377A52303}" dt="2021-01-15T05:48:53.631" v="101" actId="47"/>
        <pc:sldMkLst>
          <pc:docMk/>
          <pc:sldMk cId="472449028" sldId="260"/>
        </pc:sldMkLst>
      </pc:sldChg>
      <pc:sldChg chg="del">
        <pc:chgData name="Brandt Redd" userId="be8ed540b98adac0" providerId="LiveId" clId="{EFCF8854-67E5-4E1C-97D0-708377A52303}" dt="2021-01-15T05:49:39.868" v="103" actId="47"/>
        <pc:sldMkLst>
          <pc:docMk/>
          <pc:sldMk cId="2440498939" sldId="261"/>
        </pc:sldMkLst>
      </pc:sldChg>
      <pc:sldChg chg="modSp mod">
        <pc:chgData name="Brandt Redd" userId="be8ed540b98adac0" providerId="LiveId" clId="{EFCF8854-67E5-4E1C-97D0-708377A52303}" dt="2021-01-15T05:57:14.903" v="148" actId="20577"/>
        <pc:sldMkLst>
          <pc:docMk/>
          <pc:sldMk cId="3023448855" sldId="280"/>
        </pc:sldMkLst>
      </pc:sldChg>
      <pc:sldChg chg="del">
        <pc:chgData name="Brandt Redd" userId="be8ed540b98adac0" providerId="LiveId" clId="{EFCF8854-67E5-4E1C-97D0-708377A52303}" dt="2021-01-15T05:50:11.450" v="105" actId="47"/>
        <pc:sldMkLst>
          <pc:docMk/>
          <pc:sldMk cId="2115328456" sldId="283"/>
        </pc:sldMkLst>
      </pc:sldChg>
      <pc:sldChg chg="modSp mod">
        <pc:chgData name="Brandt Redd" userId="be8ed540b98adac0" providerId="LiveId" clId="{EFCF8854-67E5-4E1C-97D0-708377A52303}" dt="2021-01-15T05:57:48.837" v="156" actId="20577"/>
        <pc:sldMkLst>
          <pc:docMk/>
          <pc:sldMk cId="1413999002" sldId="284"/>
        </pc:sldMkLst>
      </pc:sldChg>
      <pc:sldChg chg="del">
        <pc:chgData name="Brandt Redd" userId="be8ed540b98adac0" providerId="LiveId" clId="{EFCF8854-67E5-4E1C-97D0-708377A52303}" dt="2021-01-15T05:49:39.046" v="102" actId="47"/>
        <pc:sldMkLst>
          <pc:docMk/>
          <pc:sldMk cId="117099716" sldId="285"/>
        </pc:sldMkLst>
      </pc:sldChg>
      <pc:sldChg chg="modSp mod">
        <pc:chgData name="Brandt Redd" userId="be8ed540b98adac0" providerId="LiveId" clId="{EFCF8854-67E5-4E1C-97D0-708377A52303}" dt="2021-01-15T05:50:02.760" v="104" actId="6549"/>
        <pc:sldMkLst>
          <pc:docMk/>
          <pc:sldMk cId="3031370262" sldId="286"/>
        </pc:sldMkLst>
      </pc:sldChg>
      <pc:sldChg chg="modSp mod">
        <pc:chgData name="Brandt Redd" userId="be8ed540b98adac0" providerId="LiveId" clId="{EFCF8854-67E5-4E1C-97D0-708377A52303}" dt="2021-01-15T14:42:06.186" v="1704" actId="20577"/>
        <pc:sldMkLst>
          <pc:docMk/>
          <pc:sldMk cId="863228287" sldId="287"/>
        </pc:sldMkLst>
      </pc:sldChg>
      <pc:sldChg chg="modSp new mod">
        <pc:chgData name="Brandt Redd" userId="be8ed540b98adac0" providerId="LiveId" clId="{EFCF8854-67E5-4E1C-97D0-708377A52303}" dt="2021-01-15T06:05:30.267" v="639" actId="20577"/>
        <pc:sldMkLst>
          <pc:docMk/>
          <pc:sldMk cId="1560542386" sldId="288"/>
        </pc:sldMkLst>
      </pc:sldChg>
      <pc:sldChg chg="addSp delSp modSp new mod modClrScheme chgLayout">
        <pc:chgData name="Brandt Redd" userId="be8ed540b98adac0" providerId="LiveId" clId="{EFCF8854-67E5-4E1C-97D0-708377A52303}" dt="2021-01-15T06:29:20.215" v="1491" actId="207"/>
        <pc:sldMkLst>
          <pc:docMk/>
          <pc:sldMk cId="2797352149" sldId="289"/>
        </pc:sldMkLst>
      </pc:sldChg>
    </pc:docChg>
  </pc:docChgLst>
  <pc:docChgLst>
    <pc:chgData name="Brandt Redd" userId="be8ed540b98adac0" providerId="LiveId" clId="{3779D7E6-A2A1-4E68-A161-D279CA694E9E}"/>
    <pc:docChg chg="undo custSel addSld delSld modSld">
      <pc:chgData name="Brandt Redd" userId="be8ed540b98adac0" providerId="LiveId" clId="{3779D7E6-A2A1-4E68-A161-D279CA694E9E}" dt="2020-09-07T21:03:10.919" v="1840" actId="20577"/>
      <pc:docMkLst>
        <pc:docMk/>
      </pc:docMkLst>
      <pc:sldChg chg="modSp mod">
        <pc:chgData name="Brandt Redd" userId="be8ed540b98adac0" providerId="LiveId" clId="{3779D7E6-A2A1-4E68-A161-D279CA694E9E}" dt="2020-09-07T21:03:10.919" v="1840" actId="20577"/>
        <pc:sldMkLst>
          <pc:docMk/>
          <pc:sldMk cId="1608796581" sldId="256"/>
        </pc:sldMkLst>
      </pc:sldChg>
      <pc:sldChg chg="addSp modSp mod">
        <pc:chgData name="Brandt Redd" userId="be8ed540b98adac0" providerId="LiveId" clId="{3779D7E6-A2A1-4E68-A161-D279CA694E9E}" dt="2020-09-04T03:32:27.946" v="168" actId="20577"/>
        <pc:sldMkLst>
          <pc:docMk/>
          <pc:sldMk cId="2440498939" sldId="261"/>
        </pc:sldMkLst>
      </pc:sldChg>
      <pc:sldChg chg="modSp mod">
        <pc:chgData name="Brandt Redd" userId="be8ed540b98adac0" providerId="LiveId" clId="{3779D7E6-A2A1-4E68-A161-D279CA694E9E}" dt="2020-09-04T03:31:12.486" v="2" actId="27636"/>
        <pc:sldMkLst>
          <pc:docMk/>
          <pc:sldMk cId="3023448855" sldId="280"/>
        </pc:sldMkLst>
      </pc:sldChg>
      <pc:sldChg chg="del">
        <pc:chgData name="Brandt Redd" userId="be8ed540b98adac0" providerId="LiveId" clId="{3779D7E6-A2A1-4E68-A161-D279CA694E9E}" dt="2020-09-04T03:29:20.105" v="0" actId="2696"/>
        <pc:sldMkLst>
          <pc:docMk/>
          <pc:sldMk cId="4105398883" sldId="282"/>
        </pc:sldMkLst>
      </pc:sldChg>
      <pc:sldChg chg="addSp delSp modSp new mod modClrScheme chgLayout">
        <pc:chgData name="Brandt Redd" userId="be8ed540b98adac0" providerId="LiveId" clId="{3779D7E6-A2A1-4E68-A161-D279CA694E9E}" dt="2020-09-04T03:42:53.321" v="678" actId="14100"/>
        <pc:sldMkLst>
          <pc:docMk/>
          <pc:sldMk cId="3031370262" sldId="286"/>
        </pc:sldMkLst>
      </pc:sldChg>
      <pc:sldChg chg="modSp new mod">
        <pc:chgData name="Brandt Redd" userId="be8ed540b98adac0" providerId="LiveId" clId="{3779D7E6-A2A1-4E68-A161-D279CA694E9E}" dt="2020-09-04T04:50:13.289" v="1837" actId="207"/>
        <pc:sldMkLst>
          <pc:docMk/>
          <pc:sldMk cId="863228287" sldId="287"/>
        </pc:sldMkLst>
      </pc:sldChg>
    </pc:docChg>
  </pc:docChgLst>
  <pc:docChgLst>
    <pc:chgData name="Brandt Redd" userId="be8ed540b98adac0" providerId="LiveId" clId="{62B50100-6BA2-4F86-88E7-85EACE384081}"/>
    <pc:docChg chg="undo custSel addSld modSld">
      <pc:chgData name="Brandt Redd" userId="be8ed540b98adac0" providerId="LiveId" clId="{62B50100-6BA2-4F86-88E7-85EACE384081}" dt="2025-01-15T15:10:28.946" v="1295" actId="20577"/>
      <pc:docMkLst>
        <pc:docMk/>
      </pc:docMkLst>
      <pc:sldChg chg="modSp mod">
        <pc:chgData name="Brandt Redd" userId="be8ed540b98adac0" providerId="LiveId" clId="{62B50100-6BA2-4F86-88E7-85EACE384081}" dt="2025-01-15T05:27:06.749" v="1293" actId="5793"/>
        <pc:sldMkLst>
          <pc:docMk/>
          <pc:sldMk cId="1608796581" sldId="256"/>
        </pc:sldMkLst>
        <pc:spChg chg="mod">
          <ac:chgData name="Brandt Redd" userId="be8ed540b98adac0" providerId="LiveId" clId="{62B50100-6BA2-4F86-88E7-85EACE384081}" dt="2025-01-15T05:27:06.749" v="1293" actId="5793"/>
          <ac:spMkLst>
            <pc:docMk/>
            <pc:sldMk cId="1608796581" sldId="256"/>
            <ac:spMk id="3" creationId="{EA630459-4E73-FC49-84FF-D7809436A8C7}"/>
          </ac:spMkLst>
        </pc:spChg>
      </pc:sldChg>
      <pc:sldChg chg="addSp modSp mod">
        <pc:chgData name="Brandt Redd" userId="be8ed540b98adac0" providerId="LiveId" clId="{62B50100-6BA2-4F86-88E7-85EACE384081}" dt="2025-01-15T03:41:53.786" v="83" actId="1076"/>
        <pc:sldMkLst>
          <pc:docMk/>
          <pc:sldMk cId="2896050746" sldId="257"/>
        </pc:sldMkLst>
        <pc:spChg chg="add mod">
          <ac:chgData name="Brandt Redd" userId="be8ed540b98adac0" providerId="LiveId" clId="{62B50100-6BA2-4F86-88E7-85EACE384081}" dt="2025-01-15T03:41:53.786" v="83" actId="1076"/>
          <ac:spMkLst>
            <pc:docMk/>
            <pc:sldMk cId="2896050746" sldId="257"/>
            <ac:spMk id="2" creationId="{9F11A17B-FD7D-C455-D186-868E8643E893}"/>
          </ac:spMkLst>
        </pc:spChg>
        <pc:spChg chg="mod">
          <ac:chgData name="Brandt Redd" userId="be8ed540b98adac0" providerId="LiveId" clId="{62B50100-6BA2-4F86-88E7-85EACE384081}" dt="2025-01-15T03:41:46.456" v="81" actId="1076"/>
          <ac:spMkLst>
            <pc:docMk/>
            <pc:sldMk cId="2896050746" sldId="257"/>
            <ac:spMk id="11" creationId="{1340B9F9-9A71-1C41-BBAC-081AA01F4B71}"/>
          </ac:spMkLst>
        </pc:spChg>
        <pc:spChg chg="mod">
          <ac:chgData name="Brandt Redd" userId="be8ed540b98adac0" providerId="LiveId" clId="{62B50100-6BA2-4F86-88E7-85EACE384081}" dt="2025-01-15T03:41:46.456" v="81" actId="1076"/>
          <ac:spMkLst>
            <pc:docMk/>
            <pc:sldMk cId="2896050746" sldId="257"/>
            <ac:spMk id="12" creationId="{5EE89421-1403-5549-9E13-90A2D281522B}"/>
          </ac:spMkLst>
        </pc:spChg>
        <pc:spChg chg="mod">
          <ac:chgData name="Brandt Redd" userId="be8ed540b98adac0" providerId="LiveId" clId="{62B50100-6BA2-4F86-88E7-85EACE384081}" dt="2025-01-15T03:41:46.456" v="81" actId="1076"/>
          <ac:spMkLst>
            <pc:docMk/>
            <pc:sldMk cId="2896050746" sldId="257"/>
            <ac:spMk id="13" creationId="{AFC00906-5A1D-734A-830C-B885A4243D04}"/>
          </ac:spMkLst>
        </pc:spChg>
        <pc:spChg chg="mod">
          <ac:chgData name="Brandt Redd" userId="be8ed540b98adac0" providerId="LiveId" clId="{62B50100-6BA2-4F86-88E7-85EACE384081}" dt="2025-01-15T03:41:46.456" v="81" actId="1076"/>
          <ac:spMkLst>
            <pc:docMk/>
            <pc:sldMk cId="2896050746" sldId="257"/>
            <ac:spMk id="14" creationId="{73E3D46C-B694-4B4C-8917-43B253573989}"/>
          </ac:spMkLst>
        </pc:spChg>
        <pc:spChg chg="mod">
          <ac:chgData name="Brandt Redd" userId="be8ed540b98adac0" providerId="LiveId" clId="{62B50100-6BA2-4F86-88E7-85EACE384081}" dt="2025-01-15T03:41:46.456" v="81" actId="1076"/>
          <ac:spMkLst>
            <pc:docMk/>
            <pc:sldMk cId="2896050746" sldId="257"/>
            <ac:spMk id="15" creationId="{622B5A89-A6DF-2B43-993F-0010A4852ED1}"/>
          </ac:spMkLst>
        </pc:spChg>
        <pc:picChg chg="mod">
          <ac:chgData name="Brandt Redd" userId="be8ed540b98adac0" providerId="LiveId" clId="{62B50100-6BA2-4F86-88E7-85EACE384081}" dt="2025-01-15T03:41:46.456" v="81" actId="1076"/>
          <ac:picMkLst>
            <pc:docMk/>
            <pc:sldMk cId="2896050746" sldId="257"/>
            <ac:picMk id="3" creationId="{74840D6E-90D7-8A45-ADB0-982EDCD183C8}"/>
          </ac:picMkLst>
        </pc:picChg>
      </pc:sldChg>
      <pc:sldChg chg="addSp modSp mod modClrScheme chgLayout">
        <pc:chgData name="Brandt Redd" userId="be8ed540b98adac0" providerId="LiveId" clId="{62B50100-6BA2-4F86-88E7-85EACE384081}" dt="2025-01-15T03:49:37.885" v="280" actId="20577"/>
        <pc:sldMkLst>
          <pc:docMk/>
          <pc:sldMk cId="1915154420" sldId="259"/>
        </pc:sldMkLst>
        <pc:spChg chg="add mod">
          <ac:chgData name="Brandt Redd" userId="be8ed540b98adac0" providerId="LiveId" clId="{62B50100-6BA2-4F86-88E7-85EACE384081}" dt="2025-01-15T03:49:33.293" v="279" actId="20577"/>
          <ac:spMkLst>
            <pc:docMk/>
            <pc:sldMk cId="1915154420" sldId="259"/>
            <ac:spMk id="2" creationId="{F43E7F92-999E-75C8-0E9B-4E0115FFE1FE}"/>
          </ac:spMkLst>
        </pc:spChg>
        <pc:spChg chg="mod ord">
          <ac:chgData name="Brandt Redd" userId="be8ed540b98adac0" providerId="LiveId" clId="{62B50100-6BA2-4F86-88E7-85EACE384081}" dt="2025-01-15T03:48:36.587" v="239" actId="27636"/>
          <ac:spMkLst>
            <pc:docMk/>
            <pc:sldMk cId="1915154420" sldId="259"/>
            <ac:spMk id="4" creationId="{435A4273-5BA9-BB45-9DD9-35F08E3C82E7}"/>
          </ac:spMkLst>
        </pc:spChg>
        <pc:spChg chg="mod">
          <ac:chgData name="Brandt Redd" userId="be8ed540b98adac0" providerId="LiveId" clId="{62B50100-6BA2-4F86-88E7-85EACE384081}" dt="2025-01-15T03:49:37.885" v="280" actId="20577"/>
          <ac:spMkLst>
            <pc:docMk/>
            <pc:sldMk cId="1915154420" sldId="259"/>
            <ac:spMk id="8" creationId="{32791789-3FD2-474A-A97F-97BC62A421B2}"/>
          </ac:spMkLst>
        </pc:spChg>
      </pc:sldChg>
      <pc:sldChg chg="modSp mod">
        <pc:chgData name="Brandt Redd" userId="be8ed540b98adac0" providerId="LiveId" clId="{62B50100-6BA2-4F86-88E7-85EACE384081}" dt="2025-01-15T15:10:28.946" v="1295" actId="20577"/>
        <pc:sldMkLst>
          <pc:docMk/>
          <pc:sldMk cId="4180646561" sldId="269"/>
        </pc:sldMkLst>
        <pc:spChg chg="mod">
          <ac:chgData name="Brandt Redd" userId="be8ed540b98adac0" providerId="LiveId" clId="{62B50100-6BA2-4F86-88E7-85EACE384081}" dt="2025-01-15T15:10:28.946" v="1295" actId="20577"/>
          <ac:spMkLst>
            <pc:docMk/>
            <pc:sldMk cId="4180646561" sldId="269"/>
            <ac:spMk id="3" creationId="{B82CF252-7944-1542-B7BC-19E67BAA4F4F}"/>
          </ac:spMkLst>
        </pc:spChg>
      </pc:sldChg>
      <pc:sldChg chg="modSp mod">
        <pc:chgData name="Brandt Redd" userId="be8ed540b98adac0" providerId="LiveId" clId="{62B50100-6BA2-4F86-88E7-85EACE384081}" dt="2025-01-15T04:08:25.488" v="1291" actId="20577"/>
        <pc:sldMkLst>
          <pc:docMk/>
          <pc:sldMk cId="3034784921" sldId="290"/>
        </pc:sldMkLst>
        <pc:spChg chg="mod">
          <ac:chgData name="Brandt Redd" userId="be8ed540b98adac0" providerId="LiveId" clId="{62B50100-6BA2-4F86-88E7-85EACE384081}" dt="2025-01-15T04:08:25.488" v="1291" actId="20577"/>
          <ac:spMkLst>
            <pc:docMk/>
            <pc:sldMk cId="3034784921" sldId="290"/>
            <ac:spMk id="9" creationId="{9EF5A15F-FA4E-403F-B837-6434F2B2E548}"/>
          </ac:spMkLst>
        </pc:spChg>
      </pc:sldChg>
      <pc:sldChg chg="addSp modSp new mod">
        <pc:chgData name="Brandt Redd" userId="be8ed540b98adac0" providerId="LiveId" clId="{62B50100-6BA2-4F86-88E7-85EACE384081}" dt="2025-01-15T04:08:06.365" v="1284" actId="1076"/>
        <pc:sldMkLst>
          <pc:docMk/>
          <pc:sldMk cId="3193053468" sldId="305"/>
        </pc:sldMkLst>
        <pc:spChg chg="mod">
          <ac:chgData name="Brandt Redd" userId="be8ed540b98adac0" providerId="LiveId" clId="{62B50100-6BA2-4F86-88E7-85EACE384081}" dt="2025-01-15T03:50:11.605" v="301" actId="14100"/>
          <ac:spMkLst>
            <pc:docMk/>
            <pc:sldMk cId="3193053468" sldId="305"/>
            <ac:spMk id="2" creationId="{18F3C363-641B-D99B-38DA-85435879D8A9}"/>
          </ac:spMkLst>
        </pc:spChg>
        <pc:spChg chg="mod">
          <ac:chgData name="Brandt Redd" userId="be8ed540b98adac0" providerId="LiveId" clId="{62B50100-6BA2-4F86-88E7-85EACE384081}" dt="2025-01-15T04:07:33.503" v="1271" actId="14100"/>
          <ac:spMkLst>
            <pc:docMk/>
            <pc:sldMk cId="3193053468" sldId="305"/>
            <ac:spMk id="3" creationId="{123F20EA-4A3D-8A86-F7AA-3A101CBBDA2A}"/>
          </ac:spMkLst>
        </pc:spChg>
        <pc:spChg chg="add mod">
          <ac:chgData name="Brandt Redd" userId="be8ed540b98adac0" providerId="LiveId" clId="{62B50100-6BA2-4F86-88E7-85EACE384081}" dt="2025-01-15T04:08:06.365" v="1284" actId="1076"/>
          <ac:spMkLst>
            <pc:docMk/>
            <pc:sldMk cId="3193053468" sldId="305"/>
            <ac:spMk id="5" creationId="{0FF37279-8611-C300-B940-9CE556BA3CD9}"/>
          </ac:spMkLst>
        </pc:spChg>
        <pc:graphicFrameChg chg="add mod modGraphic">
          <ac:chgData name="Brandt Redd" userId="be8ed540b98adac0" providerId="LiveId" clId="{62B50100-6BA2-4F86-88E7-85EACE384081}" dt="2025-01-15T04:07:38.040" v="1272" actId="1076"/>
          <ac:graphicFrameMkLst>
            <pc:docMk/>
            <pc:sldMk cId="3193053468" sldId="305"/>
            <ac:graphicFrameMk id="4" creationId="{3E82FDF3-7CBF-A97F-B168-1FE7FE2EDDC7}"/>
          </ac:graphicFrameMkLst>
        </pc:graphicFrameChg>
      </pc:sldChg>
    </pc:docChg>
  </pc:docChgLst>
  <pc:docChgLst>
    <pc:chgData name="Brandt Redd" userId="be8ed540b98adac0" providerId="LiveId" clId="{67881525-4B78-4F67-B7FF-055D68A9AD3E}"/>
    <pc:docChg chg="delSld modSld sldOrd">
      <pc:chgData name="Brandt Redd" userId="be8ed540b98adac0" providerId="LiveId" clId="{67881525-4B78-4F67-B7FF-055D68A9AD3E}" dt="2023-01-13T05:28:56.067" v="2" actId="47"/>
      <pc:docMkLst>
        <pc:docMk/>
      </pc:docMkLst>
      <pc:sldChg chg="del ord">
        <pc:chgData name="Brandt Redd" userId="be8ed540b98adac0" providerId="LiveId" clId="{67881525-4B78-4F67-B7FF-055D68A9AD3E}" dt="2023-01-13T05:28:56.067" v="2" actId="47"/>
        <pc:sldMkLst>
          <pc:docMk/>
          <pc:sldMk cId="1425919564" sldId="292"/>
        </pc:sldMkLst>
      </pc:sldChg>
    </pc:docChg>
  </pc:docChgLst>
  <pc:docChgLst>
    <pc:chgData name="Brandt Redd" userId="be8ed540b98adac0" providerId="LiveId" clId="{E0C32CCE-9395-4112-9380-C58BEB3CE67C}"/>
    <pc:docChg chg="modSld">
      <pc:chgData name="Brandt Redd" userId="be8ed540b98adac0" providerId="LiveId" clId="{E0C32CCE-9395-4112-9380-C58BEB3CE67C}" dt="2024-09-11T14:05:12.766" v="0" actId="20577"/>
      <pc:docMkLst>
        <pc:docMk/>
      </pc:docMkLst>
      <pc:sldChg chg="modSp mod">
        <pc:chgData name="Brandt Redd" userId="be8ed540b98adac0" providerId="LiveId" clId="{E0C32CCE-9395-4112-9380-C58BEB3CE67C}" dt="2024-09-11T14:05:12.766" v="0" actId="20577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673CBEBA-8115-4D27-9CB8-181CE7A627B9}"/>
    <pc:docChg chg="undo redo custSel addSld delSld modSld sldOrd">
      <pc:chgData name="Brandt Redd" userId="be8ed540b98adac0" providerId="LiveId" clId="{673CBEBA-8115-4D27-9CB8-181CE7A627B9}" dt="2021-09-03T14:11:26.569" v="1234" actId="20577"/>
      <pc:docMkLst>
        <pc:docMk/>
      </pc:docMkLst>
      <pc:sldChg chg="modSp mod">
        <pc:chgData name="Brandt Redd" userId="be8ed540b98adac0" providerId="LiveId" clId="{673CBEBA-8115-4D27-9CB8-181CE7A627B9}" dt="2021-09-03T04:37:26.221" v="1223" actId="20577"/>
        <pc:sldMkLst>
          <pc:docMk/>
          <pc:sldMk cId="1608796581" sldId="256"/>
        </pc:sldMkLst>
      </pc:sldChg>
      <pc:sldChg chg="addSp delSp modSp mod addAnim delAnim">
        <pc:chgData name="Brandt Redd" userId="be8ed540b98adac0" providerId="LiveId" clId="{673CBEBA-8115-4D27-9CB8-181CE7A627B9}" dt="2021-09-03T05:39:46.102" v="1226" actId="3626"/>
        <pc:sldMkLst>
          <pc:docMk/>
          <pc:sldMk cId="2896050746" sldId="257"/>
        </pc:sldMkLst>
      </pc:sldChg>
      <pc:sldChg chg="ord">
        <pc:chgData name="Brandt Redd" userId="be8ed540b98adac0" providerId="LiveId" clId="{673CBEBA-8115-4D27-9CB8-181CE7A627B9}" dt="2021-09-03T02:59:40.713" v="173"/>
        <pc:sldMkLst>
          <pc:docMk/>
          <pc:sldMk cId="3715223750" sldId="259"/>
        </pc:sldMkLst>
      </pc:sldChg>
      <pc:sldChg chg="del">
        <pc:chgData name="Brandt Redd" userId="be8ed540b98adac0" providerId="LiveId" clId="{673CBEBA-8115-4D27-9CB8-181CE7A627B9}" dt="2021-09-03T01:42:52.764" v="11" actId="47"/>
        <pc:sldMkLst>
          <pc:docMk/>
          <pc:sldMk cId="1587831212" sldId="279"/>
        </pc:sldMkLst>
      </pc:sldChg>
      <pc:sldChg chg="ord">
        <pc:chgData name="Brandt Redd" userId="be8ed540b98adac0" providerId="LiveId" clId="{673CBEBA-8115-4D27-9CB8-181CE7A627B9}" dt="2021-09-03T02:59:59.487" v="175"/>
        <pc:sldMkLst>
          <pc:docMk/>
          <pc:sldMk cId="3023448855" sldId="280"/>
        </pc:sldMkLst>
      </pc:sldChg>
      <pc:sldChg chg="addSp modSp">
        <pc:chgData name="Brandt Redd" userId="be8ed540b98adac0" providerId="LiveId" clId="{673CBEBA-8115-4D27-9CB8-181CE7A627B9}" dt="2021-09-03T03:52:00.681" v="232" actId="1076"/>
        <pc:sldMkLst>
          <pc:docMk/>
          <pc:sldMk cId="1413999002" sldId="284"/>
        </pc:sldMkLst>
      </pc:sldChg>
      <pc:sldChg chg="ord">
        <pc:chgData name="Brandt Redd" userId="be8ed540b98adac0" providerId="LiveId" clId="{673CBEBA-8115-4D27-9CB8-181CE7A627B9}" dt="2021-09-03T04:24:11.645" v="1220"/>
        <pc:sldMkLst>
          <pc:docMk/>
          <pc:sldMk cId="3031370262" sldId="286"/>
        </pc:sldMkLst>
      </pc:sldChg>
      <pc:sldChg chg="modSp mod modShow">
        <pc:chgData name="Brandt Redd" userId="be8ed540b98adac0" providerId="LiveId" clId="{673CBEBA-8115-4D27-9CB8-181CE7A627B9}" dt="2021-09-03T05:39:10.719" v="1224" actId="729"/>
        <pc:sldMkLst>
          <pc:docMk/>
          <pc:sldMk cId="863228287" sldId="287"/>
        </pc:sldMkLst>
      </pc:sldChg>
      <pc:sldChg chg="mod modShow">
        <pc:chgData name="Brandt Redd" userId="be8ed540b98adac0" providerId="LiveId" clId="{673CBEBA-8115-4D27-9CB8-181CE7A627B9}" dt="2021-09-03T05:39:14.153" v="1225" actId="729"/>
        <pc:sldMkLst>
          <pc:docMk/>
          <pc:sldMk cId="1560542386" sldId="288"/>
        </pc:sldMkLst>
      </pc:sldChg>
      <pc:sldChg chg="addSp delSp modSp new mod modClrScheme chgLayout">
        <pc:chgData name="Brandt Redd" userId="be8ed540b98adac0" providerId="LiveId" clId="{673CBEBA-8115-4D27-9CB8-181CE7A627B9}" dt="2021-09-03T03:01:47.517" v="227" actId="478"/>
        <pc:sldMkLst>
          <pc:docMk/>
          <pc:sldMk cId="3034784921" sldId="290"/>
        </pc:sldMkLst>
      </pc:sldChg>
      <pc:sldChg chg="addSp delSp modSp new mod modClrScheme chgLayout">
        <pc:chgData name="Brandt Redd" userId="be8ed540b98adac0" providerId="LiveId" clId="{673CBEBA-8115-4D27-9CB8-181CE7A627B9}" dt="2021-09-03T14:11:26.569" v="1234" actId="20577"/>
        <pc:sldMkLst>
          <pc:docMk/>
          <pc:sldMk cId="1218662638" sldId="291"/>
        </pc:sldMkLst>
      </pc:sldChg>
    </pc:docChg>
  </pc:docChgLst>
  <pc:docChgLst>
    <pc:chgData name="Brandt Redd" userId="be8ed540b98adac0" providerId="LiveId" clId="{59996E51-7FAC-48E8-B6A2-C3AC5D49E888}"/>
    <pc:docChg chg="undo redo custSel addSld delSld modSld sldOrd">
      <pc:chgData name="Brandt Redd" userId="be8ed540b98adac0" providerId="LiveId" clId="{59996E51-7FAC-48E8-B6A2-C3AC5D49E888}" dt="2022-01-07T15:45:04.854" v="1319" actId="20577"/>
      <pc:docMkLst>
        <pc:docMk/>
      </pc:docMkLst>
      <pc:sldChg chg="modSp mod">
        <pc:chgData name="Brandt Redd" userId="be8ed540b98adac0" providerId="LiveId" clId="{59996E51-7FAC-48E8-B6A2-C3AC5D49E888}" dt="2022-01-06T03:27:05.016" v="1216" actId="20577"/>
        <pc:sldMkLst>
          <pc:docMk/>
          <pc:sldMk cId="2896050746" sldId="257"/>
        </pc:sldMkLst>
      </pc:sldChg>
      <pc:sldChg chg="add">
        <pc:chgData name="Brandt Redd" userId="be8ed540b98adac0" providerId="LiveId" clId="{59996E51-7FAC-48E8-B6A2-C3AC5D49E888}" dt="2022-01-06T00:35:00.056" v="1025"/>
        <pc:sldMkLst>
          <pc:docMk/>
          <pc:sldMk cId="1915154420" sldId="259"/>
        </pc:sldMkLst>
      </pc:sldChg>
      <pc:sldChg chg="del">
        <pc:chgData name="Brandt Redd" userId="be8ed540b98adac0" providerId="LiveId" clId="{59996E51-7FAC-48E8-B6A2-C3AC5D49E888}" dt="2022-01-06T00:34:53.861" v="1024" actId="2696"/>
        <pc:sldMkLst>
          <pc:docMk/>
          <pc:sldMk cId="3715223750" sldId="259"/>
        </pc:sldMkLst>
      </pc:sldChg>
      <pc:sldChg chg="add ord">
        <pc:chgData name="Brandt Redd" userId="be8ed540b98adac0" providerId="LiveId" clId="{59996E51-7FAC-48E8-B6A2-C3AC5D49E888}" dt="2022-01-06T00:44:21.928" v="1093"/>
        <pc:sldMkLst>
          <pc:docMk/>
          <pc:sldMk cId="1833927507" sldId="262"/>
        </pc:sldMkLst>
      </pc:sldChg>
      <pc:sldChg chg="add ord">
        <pc:chgData name="Brandt Redd" userId="be8ed540b98adac0" providerId="LiveId" clId="{59996E51-7FAC-48E8-B6A2-C3AC5D49E888}" dt="2022-01-06T00:36:57.140" v="1027"/>
        <pc:sldMkLst>
          <pc:docMk/>
          <pc:sldMk cId="4180646561" sldId="269"/>
        </pc:sldMkLst>
      </pc:sldChg>
      <pc:sldChg chg="addSp modSp">
        <pc:chgData name="Brandt Redd" userId="be8ed540b98adac0" providerId="LiveId" clId="{59996E51-7FAC-48E8-B6A2-C3AC5D49E888}" dt="2022-01-06T00:34:21.562" v="1023"/>
        <pc:sldMkLst>
          <pc:docMk/>
          <pc:sldMk cId="3023448855" sldId="280"/>
        </pc:sldMkLst>
      </pc:sldChg>
      <pc:sldChg chg="addSp modSp">
        <pc:chgData name="Brandt Redd" userId="be8ed540b98adac0" providerId="LiveId" clId="{59996E51-7FAC-48E8-B6A2-C3AC5D49E888}" dt="2022-01-06T00:33:51.824" v="1022"/>
        <pc:sldMkLst>
          <pc:docMk/>
          <pc:sldMk cId="3031370262" sldId="286"/>
        </pc:sldMkLst>
      </pc:sldChg>
      <pc:sldChg chg="del">
        <pc:chgData name="Brandt Redd" userId="be8ed540b98adac0" providerId="LiveId" clId="{59996E51-7FAC-48E8-B6A2-C3AC5D49E888}" dt="2021-12-23T16:02:02.009" v="0" actId="2696"/>
        <pc:sldMkLst>
          <pc:docMk/>
          <pc:sldMk cId="863228287" sldId="287"/>
        </pc:sldMkLst>
      </pc:sldChg>
      <pc:sldChg chg="modSp mod">
        <pc:chgData name="Brandt Redd" userId="be8ed540b98adac0" providerId="LiveId" clId="{59996E51-7FAC-48E8-B6A2-C3AC5D49E888}" dt="2022-01-06T04:42:03.890" v="1314" actId="114"/>
        <pc:sldMkLst>
          <pc:docMk/>
          <pc:sldMk cId="1560542386" sldId="288"/>
        </pc:sldMkLst>
      </pc:sldChg>
      <pc:sldChg chg="modSp mod ord">
        <pc:chgData name="Brandt Redd" userId="be8ed540b98adac0" providerId="LiveId" clId="{59996E51-7FAC-48E8-B6A2-C3AC5D49E888}" dt="2022-01-07T15:45:04.854" v="1319" actId="20577"/>
        <pc:sldMkLst>
          <pc:docMk/>
          <pc:sldMk cId="2797352149" sldId="289"/>
        </pc:sldMkLst>
      </pc:sldChg>
      <pc:sldChg chg="modSp mod">
        <pc:chgData name="Brandt Redd" userId="be8ed540b98adac0" providerId="LiveId" clId="{59996E51-7FAC-48E8-B6A2-C3AC5D49E888}" dt="2022-01-06T00:31:24.347" v="1021" actId="6549"/>
        <pc:sldMkLst>
          <pc:docMk/>
          <pc:sldMk cId="3034784921" sldId="290"/>
        </pc:sldMkLst>
      </pc:sldChg>
      <pc:sldChg chg="modSp mod">
        <pc:chgData name="Brandt Redd" userId="be8ed540b98adac0" providerId="LiveId" clId="{59996E51-7FAC-48E8-B6A2-C3AC5D49E888}" dt="2022-01-06T01:04:16.779" v="1128" actId="1076"/>
        <pc:sldMkLst>
          <pc:docMk/>
          <pc:sldMk cId="1218662638" sldId="291"/>
        </pc:sldMkLst>
      </pc:sldChg>
      <pc:sldChg chg="modSp new mod">
        <pc:chgData name="Brandt Redd" userId="be8ed540b98adac0" providerId="LiveId" clId="{59996E51-7FAC-48E8-B6A2-C3AC5D49E888}" dt="2022-01-06T01:16:43.044" v="1197" actId="20577"/>
        <pc:sldMkLst>
          <pc:docMk/>
          <pc:sldMk cId="1425919564" sldId="292"/>
        </pc:sldMkLst>
      </pc:sldChg>
      <pc:sldChg chg="modSp add mod">
        <pc:chgData name="Brandt Redd" userId="be8ed540b98adac0" providerId="LiveId" clId="{59996E51-7FAC-48E8-B6A2-C3AC5D49E888}" dt="2022-01-06T00:48:15.311" v="1111" actId="20577"/>
        <pc:sldMkLst>
          <pc:docMk/>
          <pc:sldMk cId="1789244987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DB7CA-D548-A54F-AF9E-A52D96556594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AC302-EC72-274E-9E2F-0B719EB6D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2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http://</a:t>
            </a:r>
            <a:r>
              <a:rPr lang="en-US" dirty="0" err="1"/>
              <a:t>dabrook.org</a:t>
            </a:r>
            <a:r>
              <a:rPr lang="en-US" dirty="0"/>
              <a:t>/resources/posters/Basic-A</a:t>
            </a:r>
          </a:p>
          <a:p>
            <a:endParaRPr lang="en-US" dirty="0"/>
          </a:p>
          <a:p>
            <a:r>
              <a:rPr lang="en-US" dirty="0"/>
              <a:t>See https://</a:t>
            </a:r>
            <a:r>
              <a:rPr lang="en-US" dirty="0" err="1"/>
              <a:t>www.quackit.com</a:t>
            </a:r>
            <a:r>
              <a:rPr lang="en-US" dirty="0"/>
              <a:t>/</a:t>
            </a:r>
            <a:r>
              <a:rPr lang="en-US" dirty="0" err="1"/>
              <a:t>css</a:t>
            </a:r>
            <a:r>
              <a:rPr lang="en-US" dirty="0"/>
              <a:t>/tutorial/</a:t>
            </a:r>
            <a:r>
              <a:rPr lang="en-US" dirty="0" err="1"/>
              <a:t>css_syntax.cfm</a:t>
            </a:r>
            <a:r>
              <a:rPr lang="en-US" dirty="0"/>
              <a:t> for some more advanced techniques (e.g., combining selectors)</a:t>
            </a:r>
          </a:p>
          <a:p>
            <a:endParaRPr lang="en-US" dirty="0"/>
          </a:p>
          <a:p>
            <a:r>
              <a:rPr lang="en-US" dirty="0"/>
              <a:t>You should memorize all the labels on this page because you often need to use them in searches: E.g., “what is the </a:t>
            </a:r>
            <a:r>
              <a:rPr lang="en-US" dirty="0" err="1"/>
              <a:t>css</a:t>
            </a:r>
            <a:r>
              <a:rPr lang="en-US" dirty="0"/>
              <a:t> property for changing the font to be bold?”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C302-EC72-274E-9E2F-0B719EB6D2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70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https://</a:t>
            </a:r>
            <a:r>
              <a:rPr lang="en-US" dirty="0" err="1"/>
              <a:t>codeburst.io</a:t>
            </a:r>
            <a:r>
              <a:rPr lang="en-US" dirty="0"/>
              <a:t>/block-level-and-inline-elements-the-difference-between-div-and-span-2f8502c1f95b for a nice demo of the difference between </a:t>
            </a:r>
            <a:r>
              <a:rPr lang="en-US" dirty="0" err="1"/>
              <a:t>divs</a:t>
            </a:r>
            <a:r>
              <a:rPr lang="en-US" dirty="0"/>
              <a:t> and spans.</a:t>
            </a:r>
          </a:p>
          <a:p>
            <a:endParaRPr lang="en-US" dirty="0"/>
          </a:p>
          <a:p>
            <a:r>
              <a:rPr lang="en-US" dirty="0"/>
              <a:t>See https://</a:t>
            </a:r>
            <a:r>
              <a:rPr lang="en-US" dirty="0" err="1"/>
              <a:t>skillcrush.com</a:t>
            </a:r>
            <a:r>
              <a:rPr lang="en-US" dirty="0"/>
              <a:t>/2013/01/28/understanding-</a:t>
            </a:r>
            <a:r>
              <a:rPr lang="en-US" dirty="0" err="1"/>
              <a:t>css</a:t>
            </a:r>
            <a:r>
              <a:rPr lang="en-US" dirty="0"/>
              <a:t>-classes-vs-ids/ for a short description of how IDs and Classes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C302-EC72-274E-9E2F-0B719EB6D2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16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https://</a:t>
            </a:r>
            <a:r>
              <a:rPr lang="en-US" dirty="0" err="1"/>
              <a:t>www.webdesignerdepot.com</a:t>
            </a:r>
            <a:r>
              <a:rPr lang="en-US" dirty="0"/>
              <a:t>/2012/09/when-pages-are-not-paper-the-designers-guide-to-layout-code/ which is a great article on the topic.</a:t>
            </a:r>
          </a:p>
          <a:p>
            <a:endParaRPr lang="en-US" dirty="0"/>
          </a:p>
          <a:p>
            <a:r>
              <a:rPr lang="en-US" dirty="0"/>
              <a:t>Note that you can override the default display style (i.e., whether it is a block or inline) using the “display” property. For example:</a:t>
            </a:r>
          </a:p>
          <a:p>
            <a:endParaRPr lang="en-US" sz="9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 {</a:t>
            </a:r>
            <a:b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display: inline;</a:t>
            </a:r>
            <a:b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C302-EC72-274E-9E2F-0B719EB6D2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13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element is considered to be a rectangular box.</a:t>
            </a:r>
          </a:p>
          <a:p>
            <a:r>
              <a:rPr lang="en-US" dirty="0"/>
              <a:t>You should know the different parts of the box.</a:t>
            </a:r>
          </a:p>
          <a:p>
            <a:endParaRPr lang="en-US" dirty="0"/>
          </a:p>
          <a:p>
            <a:r>
              <a:rPr lang="en-US" dirty="0"/>
              <a:t>Image from https://www.w3schools.com/</a:t>
            </a:r>
            <a:r>
              <a:rPr lang="en-US" dirty="0" err="1"/>
              <a:t>css</a:t>
            </a:r>
            <a:r>
              <a:rPr lang="en-US" dirty="0"/>
              <a:t>/</a:t>
            </a:r>
            <a:r>
              <a:rPr lang="en-US" dirty="0" err="1"/>
              <a:t>css_boxmodel.asp</a:t>
            </a:r>
            <a:endParaRPr lang="en-US" dirty="0"/>
          </a:p>
          <a:p>
            <a:endParaRPr lang="en-US" dirty="0"/>
          </a:p>
          <a:p>
            <a:pPr eaLnBrk="1" hangingPunct="1">
              <a:defRPr/>
            </a:pPr>
            <a:r>
              <a:rPr lang="en-US" altLang="en-US" dirty="0"/>
              <a:t>Try out “CSS dimensions, margin, border, padding, and background properties”</a:t>
            </a:r>
          </a:p>
          <a:p>
            <a:pPr eaLnBrk="1" hangingPunct="1">
              <a:defRPr/>
            </a:pPr>
            <a:r>
              <a:rPr lang="en-US" altLang="en-US" dirty="0"/>
              <a:t>http://</a:t>
            </a:r>
            <a:r>
              <a:rPr lang="en-US" altLang="en-US" dirty="0" err="1"/>
              <a:t>www.landofcode.com</a:t>
            </a:r>
            <a:r>
              <a:rPr lang="en-US" altLang="en-US" dirty="0"/>
              <a:t>/online-code-</a:t>
            </a:r>
            <a:r>
              <a:rPr lang="en-US" altLang="en-US" dirty="0" err="1"/>
              <a:t>editor.php</a:t>
            </a:r>
            <a:endParaRPr lang="en-US" altLang="en-US" dirty="0"/>
          </a:p>
          <a:p>
            <a:endParaRPr lang="en-US" dirty="0"/>
          </a:p>
          <a:p>
            <a:r>
              <a:rPr lang="en-US" dirty="0"/>
              <a:t>A few useful facts:</a:t>
            </a:r>
          </a:p>
          <a:p>
            <a:pPr marL="171450" indent="-171450">
              <a:buFontTx/>
              <a:buChar char="-"/>
            </a:pPr>
            <a:r>
              <a:rPr lang="en-US" dirty="0"/>
              <a:t>Background settings for an element apply to the content and the padding.</a:t>
            </a:r>
          </a:p>
          <a:p>
            <a:pPr marL="171450" indent="-171450">
              <a:buFontTx/>
              <a:buChar char="-"/>
            </a:pPr>
            <a:r>
              <a:rPr lang="en-US" dirty="0"/>
              <a:t>Margins are transparent. </a:t>
            </a:r>
          </a:p>
          <a:p>
            <a:pPr marL="171450" indent="-171450">
              <a:buFontTx/>
              <a:buChar char="-"/>
            </a:pPr>
            <a:r>
              <a:rPr lang="en-US" dirty="0"/>
              <a:t>Padding cannot be negative, but margins can.</a:t>
            </a:r>
          </a:p>
          <a:p>
            <a:pPr marL="171450" indent="-171450">
              <a:buFontTx/>
              <a:buChar char="-"/>
            </a:pPr>
            <a:r>
              <a:rPr lang="en-US" dirty="0"/>
              <a:t>Beware of “collapsing margins” when elements with margins are next to one another: https://</a:t>
            </a:r>
            <a:r>
              <a:rPr lang="en-US" dirty="0" err="1"/>
              <a:t>developer.mozilla.org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-US/docs/Web/CSS/</a:t>
            </a:r>
            <a:r>
              <a:rPr lang="en-US" dirty="0" err="1"/>
              <a:t>CSS_Box_Model</a:t>
            </a:r>
            <a:r>
              <a:rPr lang="en-US" dirty="0"/>
              <a:t>/</a:t>
            </a:r>
            <a:r>
              <a:rPr lang="en-US" dirty="0" err="1"/>
              <a:t>Mastering_margin_collapsing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C302-EC72-274E-9E2F-0B719EB6D2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58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from https://</a:t>
            </a:r>
            <a:r>
              <a:rPr lang="en-US" dirty="0" err="1"/>
              <a:t>css-tricks.com</a:t>
            </a:r>
            <a:r>
              <a:rPr lang="en-US" dirty="0"/>
              <a:t>/almanac/properties/f/float/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C302-EC72-274E-9E2F-0B719EB6D2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2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https://</a:t>
            </a:r>
            <a:r>
              <a:rPr lang="en-US" dirty="0" err="1"/>
              <a:t>internetingishard.com</a:t>
            </a:r>
            <a:r>
              <a:rPr lang="en-US" dirty="0"/>
              <a:t>/html-and-</a:t>
            </a:r>
            <a:r>
              <a:rPr lang="en-US" dirty="0" err="1"/>
              <a:t>css</a:t>
            </a:r>
            <a:r>
              <a:rPr lang="en-US" dirty="0"/>
              <a:t>/advanced-positioning/ for a nice write-up on some of these different elements.</a:t>
            </a:r>
          </a:p>
          <a:p>
            <a:endParaRPr lang="en-US" dirty="0"/>
          </a:p>
          <a:p>
            <a:r>
              <a:rPr lang="en-US" dirty="0"/>
              <a:t>-  Static is the default behavior. Blocks stack vertically and in-line wraps around horizontally.</a:t>
            </a:r>
          </a:p>
          <a:p>
            <a:pPr marL="171450" indent="-171450">
              <a:buFontTx/>
              <a:buChar char="-"/>
            </a:pPr>
            <a:r>
              <a:rPr lang="en-US" dirty="0"/>
              <a:t>Relative still takes up space in the normal flow, but shifts the position relative to where it would be</a:t>
            </a:r>
          </a:p>
          <a:p>
            <a:pPr marL="171450" indent="-171450">
              <a:buFontTx/>
              <a:buChar char="-"/>
            </a:pPr>
            <a:r>
              <a:rPr lang="en-US" dirty="0"/>
              <a:t>Absolute does NOT take up space in the normal flow</a:t>
            </a:r>
          </a:p>
          <a:p>
            <a:pPr marL="171450" indent="-171450">
              <a:buFontTx/>
              <a:buChar char="-"/>
            </a:pPr>
            <a:r>
              <a:rPr lang="en-US" dirty="0"/>
              <a:t>Fixed stays the same even when the browser scrolls up and down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Elements CAN overlap. The z-index decides what is “on top” of other elements.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Relative: </a:t>
            </a:r>
            <a:r>
              <a:rPr lang="en-US" altLang="en-US" dirty="0"/>
              <a:t>http://</a:t>
            </a:r>
            <a:r>
              <a:rPr lang="en-US" altLang="en-US" dirty="0" err="1"/>
              <a:t>www.landofcode.com</a:t>
            </a:r>
            <a:r>
              <a:rPr lang="en-US" altLang="en-US" dirty="0"/>
              <a:t>/</a:t>
            </a:r>
            <a:r>
              <a:rPr lang="en-US" altLang="en-US" dirty="0" err="1"/>
              <a:t>online-code-editor.php?file</a:t>
            </a:r>
            <a:r>
              <a:rPr lang="en-US" altLang="en-US" dirty="0"/>
              <a:t>=</a:t>
            </a:r>
            <a:r>
              <a:rPr lang="en-US" altLang="en-US" dirty="0" err="1"/>
              <a:t>css_position_relative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Absolute: </a:t>
            </a:r>
            <a:r>
              <a:rPr lang="en-US" altLang="en-US" dirty="0"/>
              <a:t>http://</a:t>
            </a:r>
            <a:r>
              <a:rPr lang="en-US" altLang="en-US" dirty="0" err="1"/>
              <a:t>www.landofcode.com</a:t>
            </a:r>
            <a:r>
              <a:rPr lang="en-US" altLang="en-US" dirty="0"/>
              <a:t>/</a:t>
            </a:r>
            <a:r>
              <a:rPr lang="en-US" altLang="en-US" dirty="0" err="1"/>
              <a:t>online-code-editor.php?file</a:t>
            </a:r>
            <a:r>
              <a:rPr lang="en-US" altLang="en-US" dirty="0"/>
              <a:t>=</a:t>
            </a:r>
            <a:r>
              <a:rPr lang="en-US" altLang="en-US" dirty="0" err="1"/>
              <a:t>css_position_absolute</a:t>
            </a:r>
            <a:endParaRPr lang="en-US" altLang="en-US" dirty="0"/>
          </a:p>
          <a:p>
            <a:pPr marL="171450" indent="-171450">
              <a:buFontTx/>
              <a:buChar char="-"/>
            </a:pPr>
            <a:r>
              <a:rPr lang="en-US" dirty="0"/>
              <a:t>Fixed: </a:t>
            </a:r>
            <a:r>
              <a:rPr lang="en-US" altLang="en-US" dirty="0"/>
              <a:t>http://www.w3.org/Style/Examples/007/menus (see menus on the right-hand side)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CAC302-EC72-274E-9E2F-0B719EB6D2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35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5A5B-3A4C-F642-B633-616CAE079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BEE53-64C7-054D-AF2A-BD6538D17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10C8E-3296-CD49-BFC1-D3178ACC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926E7-7C49-ED47-86E1-755735B2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1D4EF-B258-0F40-9CA0-92744E8B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6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F54E-3DD4-1342-B1E1-6E9BD4A1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D654E-4865-DB49-BBB9-57F7C92CA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1881A-1E06-7D4E-8F62-EA48AA0D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B900-0570-A64C-8AF8-77B3CEE54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8628E-35F0-594A-963B-0EB699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4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C2A3-B18C-2B49-AB81-AF4CC686A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57843-5A9F-0C4A-9630-46DC5B530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AEC2F-3A28-C547-83A9-B1C423AC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1126-5DAB-D64A-93F9-48CD1DA4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B3E0C-3714-8949-84BE-615546E7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0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0D499-201E-384C-BD11-9B388CA4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FF25-2DB7-ED42-B6E1-8DB7A18EB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CEE1F-388E-164B-8841-5DA37D2C8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098EF-638F-9048-BCDC-22FC7E04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B7E35-AA91-8D4F-8D9B-12E864CF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BA8F4-4A52-AB40-8B6F-3A79D316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0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A1A65-BDBD-0E4C-9C44-405A592E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6C462-A202-904C-9A81-4437F7164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03F9D-09CE-DC4D-8778-E90066214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C5653-B574-7344-A4A7-569D22148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2F21B-DCB4-3E4F-9F1B-42ED55FF7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2322C-F14C-1549-8A41-9B926DB47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E93A03-3313-C141-8564-6B27AD01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31994E-9080-8746-985F-AF303D3F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2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D10C-FE8F-9943-A955-DA24FD66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84817-3E30-9A46-AA6F-F888E4C0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33E5E1-0A5D-E14F-AB9B-554C728A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DCF09-D0DC-7442-9336-7DDA73F2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9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1B3F4-C26D-2A4F-A9FF-79C4CC3F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771CB-7898-BB4C-8133-0DF3D47F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0837F-6CC8-A84D-A94A-9A7A5E0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0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3657-CD4F-9946-BA67-E681AE52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DDA2-2D5B-4F4E-9040-CC715B3F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1B371-102A-C543-B7D7-6F89A308B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1E971-8848-AF49-8E9D-975CB6B1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F47C5-E286-4F4A-BE20-46F570E1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30AFF-57E0-6E40-9071-AB170461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3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1868-B4E9-774D-AE58-49DD53E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0329EE-0C3E-5544-B1CB-38F170CBA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77525-3AE0-4E45-B45C-9833D3140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B62AE-0ED5-5045-827D-AE9C4C82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42D43-12AE-454F-805A-0C1148B2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4487D-C5F0-634A-A68B-81FFEA26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5BCD-BEC3-F649-91C0-3ED33360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F2B2E-AB8B-8948-BEF3-75190BFAD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216DC-E12C-E142-9AE8-9CF6AC63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28266-21C2-9549-A404-70AF2EDF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B9EAC-83E8-F746-8A29-7DD6A968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42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9BF9B-B3A9-014A-85EB-7FFD8C56C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27677-0E32-8A41-B2BB-140DA4B6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2F457-0D7F-8649-807D-568577C7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6C095-B969-3D4C-B0CE-0CB62DBE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F9DDE-0B26-9F4A-82A2-55CC2F64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2180C-783B-AB44-A8B1-BD65C4A3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C761A-EED2-D643-BAF0-7076D819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2D4BD-BF68-A942-A4B9-4AF632E37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3CF36-BA8C-D34A-89B8-FC7B38336E58}" type="datetimeFigureOut">
              <a:rPr lang="en-US" smtClean="0"/>
              <a:t>2025-01-15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5539-2E3B-7A42-B118-462509098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C4E52-301E-8B41-9FE6-96698DC61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A99DC-82B6-854A-A833-B47E3333A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1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css_selectors.asp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css_units.as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9742-E70E-934C-A6E3-0B10881B9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7200" dirty="0"/>
              <a:t>HTML &amp; CSS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30459-4E73-FC49-84FF-D7809436A8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IT&amp;C </a:t>
            </a:r>
            <a:r>
              <a:rPr lang="en-US" sz="3600"/>
              <a:t>210A – S03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08796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1DBF-78FF-428F-AAE7-F1628D69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3500"/>
            <a:ext cx="6858000" cy="508000"/>
          </a:xfrm>
        </p:spPr>
        <p:txBody>
          <a:bodyPr>
            <a:normAutofit fontScale="90000"/>
          </a:bodyPr>
          <a:lstStyle/>
          <a:p>
            <a:r>
              <a:rPr lang="en-US" dirty="0"/>
              <a:t>CSS Language (Cascading Style Sheets)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69088BA-A93E-4DA7-990A-8136C4A8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4715860"/>
              </p:ext>
            </p:extLst>
          </p:nvPr>
        </p:nvGraphicFramePr>
        <p:xfrm>
          <a:off x="1143000" y="698501"/>
          <a:ext cx="6858000" cy="332255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1454662689"/>
                    </a:ext>
                  </a:extLst>
                </a:gridCol>
                <a:gridCol w="5016500">
                  <a:extLst>
                    <a:ext uri="{9D8B030D-6E8A-4147-A177-3AD203B41FA5}">
                      <a16:colId xmlns:a16="http://schemas.microsoft.com/office/drawing/2014/main" val="4035272006"/>
                    </a:ext>
                  </a:extLst>
                </a:gridCol>
              </a:tblGrid>
              <a:tr h="326698">
                <a:tc>
                  <a:txBody>
                    <a:bodyPr/>
                    <a:lstStyle/>
                    <a:p>
                      <a:r>
                        <a:rPr lang="en-US" sz="1300" b="1" dirty="0"/>
                        <a:t>Language Type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b="0" dirty="0"/>
                        <a:t>Declarative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703524750"/>
                  </a:ext>
                </a:extLst>
              </a:tr>
              <a:tr h="326698">
                <a:tc>
                  <a:txBody>
                    <a:bodyPr/>
                    <a:lstStyle/>
                    <a:p>
                      <a:r>
                        <a:rPr lang="en-US" sz="1300" b="1" dirty="0"/>
                        <a:t>Runtime Model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b="0" dirty="0"/>
                        <a:t>Interpreted (parsed into a Document Object Model)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655624364"/>
                  </a:ext>
                </a:extLst>
              </a:tr>
              <a:tr h="362603">
                <a:tc>
                  <a:txBody>
                    <a:bodyPr/>
                    <a:lstStyle/>
                    <a:p>
                      <a:r>
                        <a:rPr lang="en-US" sz="1300" b="1" dirty="0"/>
                        <a:t>Variables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b="0" dirty="0"/>
                        <a:t>--heading-color: </a:t>
                      </a:r>
                      <a:r>
                        <a:rPr lang="en-US" sz="1300" b="0"/>
                        <a:t>#24437d;</a:t>
                      </a:r>
                      <a:endParaRPr lang="en-US" sz="1300" b="0" dirty="0"/>
                    </a:p>
                    <a:p>
                      <a:r>
                        <a:rPr lang="en-US" sz="1300" b="0" dirty="0"/>
                        <a:t>Scope follows the element inheritance hierarchy.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63302122"/>
                  </a:ext>
                </a:extLst>
              </a:tr>
              <a:tr h="326698">
                <a:tc>
                  <a:txBody>
                    <a:bodyPr/>
                    <a:lstStyle/>
                    <a:p>
                      <a:r>
                        <a:rPr lang="en-US" sz="1300" b="1" dirty="0"/>
                        <a:t>Syntax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atin typeface="Consolas" panose="020B0609020204030204" pitchFamily="49" charset="0"/>
                        </a:rPr>
                        <a:t>body {</a:t>
                      </a:r>
                    </a:p>
                    <a:p>
                      <a:r>
                        <a:rPr lang="en-US" sz="1300" b="0" dirty="0">
                          <a:latin typeface="Consolas" panose="020B0609020204030204" pitchFamily="49" charset="0"/>
                        </a:rPr>
                        <a:t>  color: blue;</a:t>
                      </a:r>
                    </a:p>
                    <a:p>
                      <a:r>
                        <a:rPr lang="en-US" sz="1300" b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280660056"/>
                  </a:ext>
                </a:extLst>
              </a:tr>
              <a:tr h="563889">
                <a:tc>
                  <a:txBody>
                    <a:bodyPr/>
                    <a:lstStyle/>
                    <a:p>
                      <a:r>
                        <a:rPr lang="en-US" sz="1300" b="1" dirty="0"/>
                        <a:t>Comments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atin typeface="Consolas" panose="020B0609020204030204" pitchFamily="49" charset="0"/>
                        </a:rPr>
                        <a:t>/* This is a comment */</a:t>
                      </a:r>
                    </a:p>
                    <a:p>
                      <a:endParaRPr lang="en-US" sz="1300" b="0" dirty="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730818495"/>
                  </a:ext>
                </a:extLst>
              </a:tr>
              <a:tr h="962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/>
                        <a:t>Locations</a:t>
                      </a:r>
                    </a:p>
                    <a:p>
                      <a:endParaRPr lang="en-US" sz="13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HTML may link to a .</a:t>
                      </a:r>
                      <a:r>
                        <a:rPr lang="en-US" sz="1300" b="0" dirty="0" err="1"/>
                        <a:t>css</a:t>
                      </a:r>
                      <a:r>
                        <a:rPr lang="en-US" sz="1300" b="0" dirty="0"/>
                        <a:t> stylesheet.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May be embedded in a &lt;style&gt; element in an HTML page.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dirty="0"/>
                        <a:t>CSS properties may be </a:t>
                      </a:r>
                      <a:r>
                        <a:rPr lang="en-US" sz="1300" b="0" dirty="0" err="1"/>
                        <a:t>inlined</a:t>
                      </a:r>
                      <a:r>
                        <a:rPr lang="en-US" sz="1300" b="0" dirty="0"/>
                        <a:t> in an HTML </a:t>
                      </a:r>
                      <a:r>
                        <a:rPr lang="en-US" sz="1300" b="1" dirty="0"/>
                        <a:t>style</a:t>
                      </a:r>
                      <a:r>
                        <a:rPr lang="en-US" sz="1300" b="0" dirty="0"/>
                        <a:t> property.</a:t>
                      </a:r>
                      <a:br>
                        <a:rPr lang="en-US" sz="1300" b="0" dirty="0"/>
                      </a:br>
                      <a:r>
                        <a:rPr lang="en-US" sz="1300" b="0" dirty="0"/>
                        <a:t>(e.g. </a:t>
                      </a:r>
                      <a:r>
                        <a:rPr lang="en-US" sz="1300" b="0" dirty="0">
                          <a:latin typeface="Consolas" panose="020B0609020204030204" pitchFamily="49" charset="0"/>
                        </a:rPr>
                        <a:t>&lt;span style="font-weight: bold;"&gt;</a:t>
                      </a:r>
                      <a:r>
                        <a:rPr lang="en-US" sz="1300" b="0" dirty="0"/>
                        <a:t> 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71935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4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8C6C17-E198-234C-B5E3-5C0415D6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66" y="1941093"/>
            <a:ext cx="8762588" cy="25506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4FD652-9786-E045-BDBD-2A4061DCCD05}"/>
              </a:ext>
            </a:extLst>
          </p:cNvPr>
          <p:cNvSpPr txBox="1"/>
          <p:nvPr/>
        </p:nvSpPr>
        <p:spPr>
          <a:xfrm>
            <a:off x="1502491" y="272717"/>
            <a:ext cx="6035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Basic Anatomy of a CSS Rule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06D14-8723-5D4B-8DF1-E4A8A73A2C85}"/>
              </a:ext>
            </a:extLst>
          </p:cNvPr>
          <p:cNvSpPr txBox="1"/>
          <p:nvPr/>
        </p:nvSpPr>
        <p:spPr>
          <a:xfrm>
            <a:off x="223266" y="1433262"/>
            <a:ext cx="22779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HTML elements should these rules apply to?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E3B01-5131-C848-AFE8-38B87BB26852}"/>
              </a:ext>
            </a:extLst>
          </p:cNvPr>
          <p:cNvSpPr txBox="1"/>
          <p:nvPr/>
        </p:nvSpPr>
        <p:spPr>
          <a:xfrm>
            <a:off x="4947666" y="1687177"/>
            <a:ext cx="22779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is the CSS rule?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12E28-AF40-5E43-AD9E-D5183436C487}"/>
              </a:ext>
            </a:extLst>
          </p:cNvPr>
          <p:cNvSpPr txBox="1"/>
          <p:nvPr/>
        </p:nvSpPr>
        <p:spPr>
          <a:xfrm>
            <a:off x="3021290" y="4491787"/>
            <a:ext cx="19263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aspect of CSS are we changing?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D88EE-B175-924E-AEAF-7B7161CD6488}"/>
              </a:ext>
            </a:extLst>
          </p:cNvPr>
          <p:cNvSpPr txBox="1"/>
          <p:nvPr/>
        </p:nvSpPr>
        <p:spPr>
          <a:xfrm>
            <a:off x="5787706" y="4491787"/>
            <a:ext cx="19263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are we setting the property to?</a:t>
            </a:r>
          </a:p>
        </p:txBody>
      </p:sp>
    </p:spTree>
    <p:extLst>
      <p:ext uri="{BB962C8B-B14F-4D97-AF65-F5344CB8AC3E}">
        <p14:creationId xmlns:p14="http://schemas.microsoft.com/office/powerpoint/2010/main" val="183392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43FED-FCBD-804F-B2D1-F1A35ECC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Giving CSS something to grab onto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CF252-7944-1542-B7BC-19E67BAA4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26383"/>
            <a:ext cx="8082213" cy="408434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Semantic HTML: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&lt;nav&gt; </a:t>
            </a:r>
            <a:r>
              <a:rPr lang="en-US" sz="2400" dirty="0"/>
              <a:t>- navigation section.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&lt;header&gt; &lt;footer&gt;</a:t>
            </a:r>
            <a:r>
              <a:rPr lang="en-US" sz="2400" dirty="0"/>
              <a:t> - the page header and footer.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&lt;article&gt;</a:t>
            </a:r>
            <a:r>
              <a:rPr lang="en-US" sz="2400" dirty="0"/>
              <a:t> the main content of the page</a:t>
            </a:r>
          </a:p>
          <a:p>
            <a:pPr lvl="1"/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&lt;q&gt;</a:t>
            </a:r>
            <a:r>
              <a:rPr lang="en-US" sz="2400" dirty="0"/>
              <a:t> an inline quote.</a:t>
            </a:r>
          </a:p>
          <a:p>
            <a:pPr lvl="1"/>
            <a:r>
              <a:rPr lang="en-US" sz="2400" dirty="0"/>
              <a:t>(more)</a:t>
            </a:r>
          </a:p>
          <a:p>
            <a:pPr marL="0" indent="0">
              <a:buNone/>
            </a:pPr>
            <a:r>
              <a:rPr lang="en-US" sz="2800" b="1" dirty="0"/>
              <a:t>Can use generic HTML: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&lt;div&gt; </a:t>
            </a:r>
            <a:r>
              <a:rPr lang="en-US" sz="2400" dirty="0"/>
              <a:t>- a generic block tag</a:t>
            </a:r>
            <a:br>
              <a:rPr lang="en-US" sz="2400" dirty="0"/>
            </a:br>
            <a:r>
              <a:rPr lang="en-US" sz="2400" dirty="0"/>
              <a:t>(breaks justification and stacks vertically like a &lt;p&gt; tag)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&lt;span&gt; </a:t>
            </a:r>
            <a:r>
              <a:rPr lang="en-US" sz="2400" dirty="0"/>
              <a:t>a generic inline tag</a:t>
            </a:r>
            <a:br>
              <a:rPr lang="en-US" sz="2400" dirty="0"/>
            </a:br>
            <a:r>
              <a:rPr lang="en-US" sz="2400" dirty="0"/>
              <a:t>(does not break justification, similar to &lt;</a:t>
            </a:r>
            <a:r>
              <a:rPr lang="en-US" sz="2400" dirty="0" err="1"/>
              <a:t>em</a:t>
            </a:r>
            <a:r>
              <a:rPr lang="en-US" sz="2400" dirty="0"/>
              <a:t>&gt; tag)</a:t>
            </a:r>
          </a:p>
          <a:p>
            <a:pPr marL="0" indent="0">
              <a:buNone/>
            </a:pPr>
            <a:r>
              <a:rPr lang="en-US" sz="2700" b="1" dirty="0"/>
              <a:t>Can Use Classes and IDs: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id </a:t>
            </a:r>
            <a:r>
              <a:rPr lang="en-US" sz="2400" dirty="0"/>
              <a:t>– e.g., </a:t>
            </a:r>
            <a:r>
              <a:rPr lang="en-US" sz="2400" dirty="0">
                <a:solidFill>
                  <a:srgbClr val="C00000"/>
                </a:solidFill>
              </a:rPr>
              <a:t>&lt;p id=“id4563”&gt;</a:t>
            </a:r>
            <a:r>
              <a:rPr lang="en-US" sz="2400" dirty="0"/>
              <a:t> marks a unique HTML element</a:t>
            </a:r>
          </a:p>
          <a:p>
            <a:pPr lvl="1"/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class - </a:t>
            </a:r>
            <a:r>
              <a:rPr lang="en-US" sz="2400" dirty="0"/>
              <a:t>e.g., </a:t>
            </a:r>
            <a:r>
              <a:rPr lang="en-US" sz="2400" dirty="0">
                <a:solidFill>
                  <a:srgbClr val="C00000"/>
                </a:solidFill>
              </a:rPr>
              <a:t>&lt;p class=“funny”&gt;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&lt;li class=“funny”&gt; </a:t>
            </a:r>
            <a:r>
              <a:rPr lang="en-US" sz="2400" dirty="0"/>
              <a:t>marks a non-unique HTML element within a document.</a:t>
            </a:r>
          </a:p>
        </p:txBody>
      </p:sp>
    </p:spTree>
    <p:extLst>
      <p:ext uri="{BB962C8B-B14F-4D97-AF65-F5344CB8AC3E}">
        <p14:creationId xmlns:p14="http://schemas.microsoft.com/office/powerpoint/2010/main" val="418064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4040-34FB-4E1B-9201-45F80620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74141"/>
            <a:ext cx="7886700" cy="686593"/>
          </a:xfrm>
        </p:spPr>
        <p:txBody>
          <a:bodyPr/>
          <a:lstStyle/>
          <a:p>
            <a:r>
              <a:rPr lang="en-US" dirty="0"/>
              <a:t>CSS Selectors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20BF5-FAB0-402F-8D9F-A3A7D8759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760735"/>
            <a:ext cx="3868340" cy="54908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Basic Selectors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7CDF4C-2986-4824-9E17-9405008A3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309816"/>
            <a:ext cx="3868340" cy="340222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div	Selects all &lt;div&gt; elements.</a:t>
            </a:r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.aside	Selects all elements with an “aside” class.</a:t>
            </a:r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#tim	Selects the one element with an ID of “</a:t>
            </a:r>
            <a:r>
              <a:rPr lang="en-US"/>
              <a:t>tim”</a:t>
            </a:r>
            <a:endParaRPr lang="en-US" dirty="0"/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.aside, .figure</a:t>
            </a:r>
            <a:br>
              <a:rPr lang="en-US" dirty="0"/>
            </a:br>
            <a:r>
              <a:rPr lang="en-US" dirty="0"/>
              <a:t>Selects all elements with either the “aside” or the “figure” class.</a:t>
            </a:r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18DE0F-0EA3-4925-B5DA-17D32EA81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760735"/>
            <a:ext cx="3887391" cy="54908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/>
              <a:t>Compound Selectors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31BF84-E90F-4FD8-8539-1EB519A56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309816"/>
            <a:ext cx="3887391" cy="340222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/>
              <a:t>div.aside</a:t>
            </a:r>
            <a:endParaRPr lang="en-US" dirty="0"/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Selects all &lt;div&gt; elements with a class of </a:t>
            </a:r>
            <a:r>
              <a:rPr lang="en-US"/>
              <a:t>“aside”.</a:t>
            </a:r>
            <a:endParaRPr lang="en-US" dirty="0"/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header h2</a:t>
            </a:r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Selects all &lt;h2&gt; elements that are within a &lt;header&gt; element.</a:t>
            </a:r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914400" indent="-91440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BCC61-CF15-453E-BD66-18A5CB7EBF66}"/>
              </a:ext>
            </a:extLst>
          </p:cNvPr>
          <p:cNvSpPr txBox="1"/>
          <p:nvPr/>
        </p:nvSpPr>
        <p:spPr>
          <a:xfrm>
            <a:off x="629841" y="4926227"/>
            <a:ext cx="745524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CSS selectors can get very complex. See </a:t>
            </a:r>
            <a:r>
              <a:rPr lang="en-US" dirty="0">
                <a:hlinkClick r:id="rId2"/>
              </a:rPr>
              <a:t>https://www.w3schools.com/cssref/css_selectors.asp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5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19D821-ED2D-46A0-852A-FF3E85ADE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41934"/>
          </a:xfrm>
        </p:spPr>
        <p:txBody>
          <a:bodyPr/>
          <a:lstStyle/>
          <a:p>
            <a:r>
              <a:rPr lang="en-US" dirty="0"/>
              <a:t>CSS Units (for fonts, borders, positions, etc.)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F332AC3-F671-4D10-AC68-EA81DE51A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749641"/>
              </p:ext>
            </p:extLst>
          </p:nvPr>
        </p:nvGraphicFramePr>
        <p:xfrm>
          <a:off x="1690043" y="1012304"/>
          <a:ext cx="5516777" cy="386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598">
                  <a:extLst>
                    <a:ext uri="{9D8B030D-6E8A-4147-A177-3AD203B41FA5}">
                      <a16:colId xmlns:a16="http://schemas.microsoft.com/office/drawing/2014/main" val="2121598173"/>
                    </a:ext>
                  </a:extLst>
                </a:gridCol>
                <a:gridCol w="997013">
                  <a:extLst>
                    <a:ext uri="{9D8B030D-6E8A-4147-A177-3AD203B41FA5}">
                      <a16:colId xmlns:a16="http://schemas.microsoft.com/office/drawing/2014/main" val="1344777620"/>
                    </a:ext>
                  </a:extLst>
                </a:gridCol>
                <a:gridCol w="3755166">
                  <a:extLst>
                    <a:ext uri="{9D8B030D-6E8A-4147-A177-3AD203B41FA5}">
                      <a16:colId xmlns:a16="http://schemas.microsoft.com/office/drawing/2014/main" val="124312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536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20px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Web pixels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96 pixels per inch. On low-resolution displays it’s one actual pixel but for high-res displays and printers it’s multiple pixels.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6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2em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em’s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The width of a capital “M” in the font size of the current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36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3rem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Root </a:t>
                      </a:r>
                      <a:r>
                        <a:rPr lang="en-US" sz="1200" dirty="0" err="1"/>
                        <a:t>em’s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width of a capital “M” in the font size of the root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115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5ch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width of a zero in the font size of the current element.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9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12pt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One point is 1/72 of an inch.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83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0.5in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68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Centimeters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55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Millimeters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1449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DD020C-1C04-4FC7-9936-1EDC6B01C846}"/>
              </a:ext>
            </a:extLst>
          </p:cNvPr>
          <p:cNvSpPr txBox="1"/>
          <p:nvPr/>
        </p:nvSpPr>
        <p:spPr>
          <a:xfrm>
            <a:off x="1243913" y="4911136"/>
            <a:ext cx="64090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the most common. See </a:t>
            </a:r>
            <a:r>
              <a:rPr lang="en-US" dirty="0">
                <a:hlinkClick r:id="rId2"/>
              </a:rPr>
              <a:t>https://www.w3schools.com/CSSref/css_units.asp</a:t>
            </a:r>
            <a:r>
              <a:rPr lang="en-US" dirty="0"/>
              <a:t> for the complete set of CSS units.</a:t>
            </a:r>
          </a:p>
        </p:txBody>
      </p:sp>
    </p:spTree>
    <p:extLst>
      <p:ext uri="{BB962C8B-B14F-4D97-AF65-F5344CB8AC3E}">
        <p14:creationId xmlns:p14="http://schemas.microsoft.com/office/powerpoint/2010/main" val="121866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C87B1B-1905-42DA-8617-7F3373B9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526239"/>
          </a:xfrm>
        </p:spPr>
        <p:txBody>
          <a:bodyPr>
            <a:normAutofit fontScale="90000"/>
          </a:bodyPr>
          <a:lstStyle/>
          <a:p>
            <a:r>
              <a:rPr lang="en-US" dirty="0"/>
              <a:t>CSS Variables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8A552-AB6D-4419-AF98-FC57C485E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1512"/>
            <a:ext cx="4010462" cy="416595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:root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--heading-color: #24437d;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h1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color: var(--heading-color);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h2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  color: var(--heading-color);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715E6-8C83-4E2E-B10D-137F8A141D4A}"/>
              </a:ext>
            </a:extLst>
          </p:cNvPr>
          <p:cNvSpPr txBox="1"/>
          <p:nvPr/>
        </p:nvSpPr>
        <p:spPr>
          <a:xfrm>
            <a:off x="5662670" y="727113"/>
            <a:ext cx="30957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scope of the variable is the scope of its selector. Usually you want to use :root or body since that will give variables global scope.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59C1E0-E895-43D9-A778-441769BA1CD9}"/>
              </a:ext>
            </a:extLst>
          </p:cNvPr>
          <p:cNvSpPr/>
          <p:nvPr/>
        </p:nvSpPr>
        <p:spPr>
          <a:xfrm>
            <a:off x="8820314" y="5356538"/>
            <a:ext cx="239630" cy="239630"/>
          </a:xfrm>
          <a:prstGeom prst="ellipse">
            <a:avLst/>
          </a:prstGeom>
          <a:solidFill>
            <a:srgbClr val="C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70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5A4273-5BA9-BB45-9DD9-35F08E3C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49" y="0"/>
            <a:ext cx="7886700" cy="61887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Display Property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1A2EE8-5057-3A49-ACEA-AC58BEB618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528"/>
          <a:stretch/>
        </p:blipFill>
        <p:spPr>
          <a:xfrm>
            <a:off x="116949" y="2683821"/>
            <a:ext cx="8884176" cy="3031179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32791789-3FD2-474A-A97F-97BC62A421B2}"/>
              </a:ext>
            </a:extLst>
          </p:cNvPr>
          <p:cNvSpPr txBox="1">
            <a:spLocks/>
          </p:cNvSpPr>
          <p:nvPr/>
        </p:nvSpPr>
        <p:spPr>
          <a:xfrm>
            <a:off x="4599815" y="849358"/>
            <a:ext cx="4267962" cy="1849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Inline</a:t>
            </a:r>
            <a:br>
              <a:rPr lang="en-US" sz="4000" b="1" dirty="0"/>
            </a:br>
            <a:r>
              <a:rPr lang="en-US" sz="3100" b="1" dirty="0">
                <a:solidFill>
                  <a:srgbClr val="C00000"/>
                </a:solidFill>
              </a:rPr>
              <a:t>SPAN, EM, IMG</a:t>
            </a:r>
          </a:p>
          <a:p>
            <a:endParaRPr lang="en-US" sz="3100" b="1" dirty="0">
              <a:solidFill>
                <a:srgbClr val="C00000"/>
              </a:solidFill>
            </a:endParaRPr>
          </a:p>
          <a:p>
            <a:r>
              <a:rPr lang="en-US" sz="3100" b="1" dirty="0"/>
              <a:t>Flow from one line to next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F43E7F92-999E-75C8-0E9B-4E0115FFE1FE}"/>
              </a:ext>
            </a:extLst>
          </p:cNvPr>
          <p:cNvSpPr txBox="1">
            <a:spLocks/>
          </p:cNvSpPr>
          <p:nvPr/>
        </p:nvSpPr>
        <p:spPr>
          <a:xfrm>
            <a:off x="142875" y="844152"/>
            <a:ext cx="4047013" cy="1849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Block</a:t>
            </a:r>
            <a:br>
              <a:rPr lang="en-US" sz="4000" b="1" dirty="0"/>
            </a:br>
            <a:r>
              <a:rPr lang="en-US" sz="3100" b="1" dirty="0">
                <a:solidFill>
                  <a:srgbClr val="C00000"/>
                </a:solidFill>
              </a:rPr>
              <a:t>DIV, P, TABLE</a:t>
            </a:r>
            <a:br>
              <a:rPr lang="en-US" sz="3100" b="1" dirty="0">
                <a:solidFill>
                  <a:srgbClr val="C00000"/>
                </a:solidFill>
              </a:rPr>
            </a:br>
            <a:br>
              <a:rPr lang="en-US" sz="3100" b="1" dirty="0">
                <a:solidFill>
                  <a:srgbClr val="C00000"/>
                </a:solidFill>
              </a:rPr>
            </a:br>
            <a:r>
              <a:rPr lang="en-US" sz="3100" b="1" dirty="0"/>
              <a:t>Stack Vertically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15154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C363-641B-D99B-38DA-85435879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1258"/>
            <a:ext cx="7886700" cy="771851"/>
          </a:xfrm>
        </p:spPr>
        <p:txBody>
          <a:bodyPr/>
          <a:lstStyle/>
          <a:p>
            <a:r>
              <a:rPr lang="en-US" dirty="0"/>
              <a:t>Advanced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F20EA-4A3D-8A86-F7AA-3A101CBBD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1783"/>
            <a:ext cx="7886700" cy="1260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display property has two functions:</a:t>
            </a:r>
          </a:p>
          <a:p>
            <a:r>
              <a:rPr lang="en-US" sz="1800" dirty="0"/>
              <a:t>The </a:t>
            </a:r>
            <a:r>
              <a:rPr lang="en-US" sz="1800" i="1" dirty="0"/>
              <a:t>outside</a:t>
            </a:r>
            <a:r>
              <a:rPr lang="en-US" sz="1800" dirty="0"/>
              <a:t> part controls how it participates in the flow of a parent element.</a:t>
            </a:r>
          </a:p>
          <a:p>
            <a:r>
              <a:rPr lang="en-US" sz="1800" dirty="0"/>
              <a:t>The </a:t>
            </a:r>
            <a:r>
              <a:rPr lang="en-US" sz="1800" i="1" dirty="0"/>
              <a:t>inside</a:t>
            </a:r>
            <a:r>
              <a:rPr lang="en-US" sz="1800" dirty="0"/>
              <a:t> part controls how its contents are laid out.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82FDF3-7CBF-A97F-B168-1FE7FE2ED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491098"/>
              </p:ext>
            </p:extLst>
          </p:nvPr>
        </p:nvGraphicFramePr>
        <p:xfrm>
          <a:off x="529507" y="2471219"/>
          <a:ext cx="44129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975">
                  <a:extLst>
                    <a:ext uri="{9D8B030D-6E8A-4147-A177-3AD203B41FA5}">
                      <a16:colId xmlns:a16="http://schemas.microsoft.com/office/drawing/2014/main" val="701848858"/>
                    </a:ext>
                  </a:extLst>
                </a:gridCol>
                <a:gridCol w="1470975">
                  <a:extLst>
                    <a:ext uri="{9D8B030D-6E8A-4147-A177-3AD203B41FA5}">
                      <a16:colId xmlns:a16="http://schemas.microsoft.com/office/drawing/2014/main" val="3077635091"/>
                    </a:ext>
                  </a:extLst>
                </a:gridCol>
                <a:gridCol w="1470975">
                  <a:extLst>
                    <a:ext uri="{9D8B030D-6E8A-4147-A177-3AD203B41FA5}">
                      <a16:colId xmlns:a16="http://schemas.microsoft.com/office/drawing/2014/main" val="2750117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Traditional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Outside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Inside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66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00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640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inline-block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flow-root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084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309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5152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F37279-8611-C300-B940-9CE556BA3CD9}"/>
              </a:ext>
            </a:extLst>
          </p:cNvPr>
          <p:cNvSpPr txBox="1"/>
          <p:nvPr/>
        </p:nvSpPr>
        <p:spPr>
          <a:xfrm>
            <a:off x="5361026" y="2576989"/>
            <a:ext cx="3154324" cy="180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new “two-value” syntax lets you set the outside and inside parts separately and explicitly. It has only been available in Chromium based browsers since roughly 2021. However, earlier single-value settings accomplish pretty much the same thing.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53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EF5A15F-FA4E-403F-B837-6434F2B2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</a:t>
            </a:r>
            <a:br>
              <a:rPr lang="en-US" dirty="0"/>
            </a:br>
            <a:r>
              <a:rPr lang="en-US" dirty="0"/>
              <a:t>Selectors, Display </a:t>
            </a:r>
          </a:p>
        </p:txBody>
      </p:sp>
      <p:pic>
        <p:nvPicPr>
          <p:cNvPr id="11" name="Picture 2" descr="See the source image">
            <a:extLst>
              <a:ext uri="{FF2B5EF4-FFF2-40B4-BE49-F238E27FC236}">
                <a16:creationId xmlns:a16="http://schemas.microsoft.com/office/drawing/2014/main" id="{27F3A604-19DE-41CF-A176-E0F31BD1C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996" y="3658376"/>
            <a:ext cx="1998785" cy="19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784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See the source image">
            <a:extLst>
              <a:ext uri="{FF2B5EF4-FFF2-40B4-BE49-F238E27FC236}">
                <a16:creationId xmlns:a16="http://schemas.microsoft.com/office/drawing/2014/main" id="{C4B54FB1-FADF-434F-930C-EDFEC5048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004" y="4481384"/>
            <a:ext cx="1175777" cy="117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840D6E-90D7-8A45-ADB0-982EDCD18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681" y="1439873"/>
            <a:ext cx="6879898" cy="304151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3DE2A6C-3759-A349-826B-631DE55B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The HTML</a:t>
            </a:r>
            <a:r>
              <a:rPr lang="en-US" sz="4000" b="1"/>
              <a:t>/CSS Box </a:t>
            </a:r>
            <a:r>
              <a:rPr lang="en-US" sz="4000" b="1" dirty="0"/>
              <a:t>Model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340B9F9-9A71-1C41-BBAC-081AA01F4B71}"/>
              </a:ext>
            </a:extLst>
          </p:cNvPr>
          <p:cNvSpPr/>
          <p:nvPr/>
        </p:nvSpPr>
        <p:spPr>
          <a:xfrm>
            <a:off x="628650" y="2178665"/>
            <a:ext cx="273393" cy="15733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E89421-1403-5549-9E13-90A2D281522B}"/>
              </a:ext>
            </a:extLst>
          </p:cNvPr>
          <p:cNvSpPr txBox="1"/>
          <p:nvPr/>
        </p:nvSpPr>
        <p:spPr>
          <a:xfrm rot="16200000">
            <a:off x="-87517" y="2760573"/>
            <a:ext cx="871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Height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AFC00906-5A1D-734A-830C-B885A4243D04}"/>
              </a:ext>
            </a:extLst>
          </p:cNvPr>
          <p:cNvSpPr/>
          <p:nvPr/>
        </p:nvSpPr>
        <p:spPr>
          <a:xfrm rot="16200000">
            <a:off x="4292866" y="1976982"/>
            <a:ext cx="413584" cy="54223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3D46C-B694-4B4C-8917-43B253573989}"/>
              </a:ext>
            </a:extLst>
          </p:cNvPr>
          <p:cNvSpPr txBox="1"/>
          <p:nvPr/>
        </p:nvSpPr>
        <p:spPr>
          <a:xfrm>
            <a:off x="4080287" y="4836488"/>
            <a:ext cx="827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Width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2B5A89-A6DF-2B43-993F-0010A4852ED1}"/>
              </a:ext>
            </a:extLst>
          </p:cNvPr>
          <p:cNvSpPr/>
          <p:nvPr/>
        </p:nvSpPr>
        <p:spPr>
          <a:xfrm>
            <a:off x="1788459" y="2178665"/>
            <a:ext cx="5422392" cy="1573306"/>
          </a:xfrm>
          <a:prstGeom prst="rect">
            <a:avLst/>
          </a:pr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Background Color or Image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1A17B-FD7D-C455-D186-868E8643E893}"/>
              </a:ext>
            </a:extLst>
          </p:cNvPr>
          <p:cNvSpPr txBox="1"/>
          <p:nvPr/>
        </p:nvSpPr>
        <p:spPr>
          <a:xfrm>
            <a:off x="290338" y="5312998"/>
            <a:ext cx="55691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Dimensions include the content and padding but not the border and margin!</a:t>
            </a:r>
          </a:p>
        </p:txBody>
      </p:sp>
    </p:spTree>
    <p:extLst>
      <p:ext uri="{BB962C8B-B14F-4D97-AF65-F5344CB8AC3E}">
        <p14:creationId xmlns:p14="http://schemas.microsoft.com/office/powerpoint/2010/main" val="289605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0036-1986-1D4B-9CE7-B1301E3E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CSS Float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76128-F2C3-124F-9B13-AAAD4BE70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8824"/>
            <a:ext cx="7029450" cy="3514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74BD85-410C-E641-9A9E-505E9485ED26}"/>
              </a:ext>
            </a:extLst>
          </p:cNvPr>
          <p:cNvSpPr/>
          <p:nvPr/>
        </p:nvSpPr>
        <p:spPr>
          <a:xfrm>
            <a:off x="6300788" y="3109110"/>
            <a:ext cx="23860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dirty="0" err="1">
                <a:solidFill>
                  <a:srgbClr val="C00000"/>
                </a:solidFill>
                <a:latin typeface="Gill Sans" charset="0"/>
                <a:sym typeface="Gill Sans" charset="0"/>
              </a:rPr>
              <a:t>img</a:t>
            </a:r>
            <a:r>
              <a:rPr lang="en-US" altLang="en-US" sz="2800" dirty="0">
                <a:solidFill>
                  <a:srgbClr val="C00000"/>
                </a:solidFill>
                <a:latin typeface="Gill Sans" charset="0"/>
                <a:sym typeface="Gill Sans" charset="0"/>
              </a:rPr>
              <a:t> </a:t>
            </a:r>
            <a:r>
              <a:rPr lang="en-US" altLang="en-US" sz="2800" dirty="0">
                <a:latin typeface="Gill Sans" charset="0"/>
                <a:sym typeface="Gill Sans" charset="0"/>
              </a:rPr>
              <a:t>{</a:t>
            </a:r>
          </a:p>
          <a:p>
            <a:pPr>
              <a:defRPr/>
            </a:pPr>
            <a:r>
              <a:rPr lang="en-US" altLang="en-US" sz="2800" dirty="0">
                <a:latin typeface="Gill Sans" charset="0"/>
                <a:sym typeface="Gill Sans" charset="0"/>
              </a:rPr>
              <a:t>float:right;</a:t>
            </a:r>
          </a:p>
          <a:p>
            <a:pPr>
              <a:defRPr/>
            </a:pPr>
            <a:r>
              <a:rPr lang="en-US" altLang="en-US" sz="2800" dirty="0">
                <a:latin typeface="Gill Sans" charset="0"/>
                <a:sym typeface="Gill Sans" charset="0"/>
              </a:rPr>
              <a:t>width:200px</a:t>
            </a:r>
          </a:p>
          <a:p>
            <a:pPr>
              <a:defRPr/>
            </a:pPr>
            <a:r>
              <a:rPr lang="en-US" altLang="en-US" sz="2800" dirty="0">
                <a:latin typeface="Gill Sans" charset="0"/>
                <a:sym typeface="Gill Sans" charset="0"/>
              </a:rPr>
              <a:t>}</a:t>
            </a:r>
          </a:p>
        </p:txBody>
      </p:sp>
      <p:pic>
        <p:nvPicPr>
          <p:cNvPr id="7" name="Picture 2" descr="See the source image">
            <a:extLst>
              <a:ext uri="{FF2B5EF4-FFF2-40B4-BE49-F238E27FC236}">
                <a16:creationId xmlns:a16="http://schemas.microsoft.com/office/drawing/2014/main" id="{48D14798-4B77-4EC6-A579-5C8C662E3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5004" y="124537"/>
            <a:ext cx="1175777" cy="117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999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D030-7224-4F42-B9E2-6AC16A0C8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CSS Position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4463-7121-4D40-B737-2A1CAA6C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8908"/>
            <a:ext cx="7886700" cy="3738562"/>
          </a:xfrm>
        </p:spPr>
        <p:txBody>
          <a:bodyPr/>
          <a:lstStyle/>
          <a:p>
            <a:pPr>
              <a:buFont typeface="Gill Sans" charset="0"/>
              <a:buChar char="•"/>
              <a:defRPr/>
            </a:pPr>
            <a:r>
              <a:rPr lang="en-US" altLang="en-US" sz="2800" dirty="0">
                <a:sym typeface="Gill Sans" charset="0"/>
              </a:rPr>
              <a:t>Static </a:t>
            </a:r>
            <a:r>
              <a:rPr lang="en-US" altLang="en-US" sz="2800" dirty="0">
                <a:solidFill>
                  <a:srgbClr val="C00000"/>
                </a:solidFill>
                <a:sym typeface="Gill Sans" charset="0"/>
              </a:rPr>
              <a:t>(i.e., normal flow) = default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en-US" sz="2800" dirty="0">
                <a:sym typeface="Gill Sans" charset="0"/>
              </a:rPr>
              <a:t>Relative </a:t>
            </a:r>
            <a:r>
              <a:rPr lang="en-US" altLang="en-US" sz="2800" dirty="0">
                <a:solidFill>
                  <a:srgbClr val="C00000"/>
                </a:solidFill>
                <a:sym typeface="Gill Sans" charset="0"/>
              </a:rPr>
              <a:t>(“shifted” from normal flow position) 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en-US" sz="2800" dirty="0">
                <a:sym typeface="Gill Sans" charset="0"/>
              </a:rPr>
              <a:t>Absolute </a:t>
            </a:r>
            <a:r>
              <a:rPr lang="en-US" altLang="en-US" sz="2800" dirty="0">
                <a:solidFill>
                  <a:srgbClr val="C00000"/>
                </a:solidFill>
                <a:sym typeface="Gill Sans" charset="0"/>
              </a:rPr>
              <a:t>(position specified; scrolls as usual) </a:t>
            </a:r>
          </a:p>
          <a:p>
            <a:pPr>
              <a:buFont typeface="Gill Sans" charset="0"/>
              <a:buChar char="•"/>
              <a:defRPr/>
            </a:pPr>
            <a:r>
              <a:rPr lang="en-US" altLang="en-US" sz="2800" dirty="0">
                <a:sym typeface="Gill Sans" charset="0"/>
              </a:rPr>
              <a:t>Fixed </a:t>
            </a:r>
            <a:r>
              <a:rPr lang="en-US" altLang="en-US" sz="2800" dirty="0">
                <a:solidFill>
                  <a:srgbClr val="C00000"/>
                </a:solidFill>
                <a:sym typeface="Gill Sans" charset="0"/>
              </a:rPr>
              <a:t>(position specified; doesn’t scroll)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7CE81E-CEBB-754D-B5E7-4312F5A9E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" y="3606800"/>
            <a:ext cx="7327900" cy="21082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15EC4CF-978E-4008-A996-82761C40BB05}"/>
              </a:ext>
            </a:extLst>
          </p:cNvPr>
          <p:cNvSpPr/>
          <p:nvPr/>
        </p:nvSpPr>
        <p:spPr>
          <a:xfrm>
            <a:off x="8820314" y="5356538"/>
            <a:ext cx="239630" cy="239630"/>
          </a:xfrm>
          <a:prstGeom prst="ellipse">
            <a:avLst/>
          </a:prstGeom>
          <a:solidFill>
            <a:srgbClr val="C0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48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AE87-B4CD-4B8A-8580-9C00CE6F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6519"/>
            <a:ext cx="7886700" cy="766119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DF6AB-E6F9-44C2-AB44-981AE8121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9158"/>
            <a:ext cx="7886700" cy="4068312"/>
          </a:xfrm>
        </p:spPr>
        <p:txBody>
          <a:bodyPr/>
          <a:lstStyle/>
          <a:p>
            <a:r>
              <a:rPr lang="en-US" dirty="0"/>
              <a:t>Is the padding inside or outside the border? What about the margin?</a:t>
            </a:r>
          </a:p>
          <a:p>
            <a:r>
              <a:rPr lang="en-US" dirty="0"/>
              <a:t>What color is the padding? What color is the margin?</a:t>
            </a:r>
          </a:p>
          <a:p>
            <a:r>
              <a:rPr lang="en-US" dirty="0"/>
              <a:t>Can you have different size margins on different sides? What about padding or borders?</a:t>
            </a:r>
          </a:p>
          <a:p>
            <a:r>
              <a:rPr lang="en-US" dirty="0"/>
              <a:t>What is the difference between a block and an inline element? What about an inline-block?</a:t>
            </a:r>
          </a:p>
          <a:p>
            <a:r>
              <a:rPr lang="en-US" dirty="0"/>
              <a:t>How do you define and use CSS variables?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Note: The answers to some of these questions come from the demos and not from the slides.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4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1400</TotalTime>
  <Words>1437</Words>
  <Application>Microsoft Office PowerPoint</Application>
  <PresentationFormat>On-screen Show (16:10)</PresentationFormat>
  <Paragraphs>189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Gill Sans</vt:lpstr>
      <vt:lpstr>Office Theme</vt:lpstr>
      <vt:lpstr>HTML &amp; CSS Part 2</vt:lpstr>
      <vt:lpstr>CSS Language (Cascading Style Sheets)</vt:lpstr>
      <vt:lpstr>PowerPoint Presentation</vt:lpstr>
      <vt:lpstr>Giving CSS something to grab onto</vt:lpstr>
      <vt:lpstr>CSS Selectors</vt:lpstr>
      <vt:lpstr>CSS Units (for fonts, borders, positions, etc.)</vt:lpstr>
      <vt:lpstr>CSS Variables</vt:lpstr>
      <vt:lpstr>Display Property</vt:lpstr>
      <vt:lpstr>Advanced Display</vt:lpstr>
      <vt:lpstr>Demo: Selectors, Display </vt:lpstr>
      <vt:lpstr>The HTML/CSS Box Model</vt:lpstr>
      <vt:lpstr>CSS Float</vt:lpstr>
      <vt:lpstr>CSS Position Property</vt:lpstr>
      <vt:lpstr>Review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 Part 2</dc:title>
  <dc:creator>Derek Hansen; Brandt Redd</dc:creator>
  <cp:lastModifiedBy>Brandt Redd</cp:lastModifiedBy>
  <cp:revision>29</cp:revision>
  <dcterms:created xsi:type="dcterms:W3CDTF">2019-01-09T03:57:48Z</dcterms:created>
  <dcterms:modified xsi:type="dcterms:W3CDTF">2025-01-15T15:10:39Z</dcterms:modified>
</cp:coreProperties>
</file>