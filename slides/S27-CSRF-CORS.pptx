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5" r:id="rId7"/>
    <p:sldId id="262" r:id="rId8"/>
    <p:sldId id="260" r:id="rId9"/>
    <p:sldId id="263" r:id="rId10"/>
    <p:sldId id="266" r:id="rId11"/>
    <p:sldId id="261" r:id="rId12"/>
    <p:sldId id="264" r:id="rId13"/>
    <p:sldId id="267" r:id="rId14"/>
    <p:sldId id="269" r:id="rId15"/>
    <p:sldId id="268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F7B0A89F-BD2B-45B1-96BA-BA6A19862EE1}"/>
    <pc:docChg chg="custSel addSld modSld">
      <pc:chgData name="Brandt Redd" userId="be8ed540b98adac0" providerId="LiveId" clId="{F7B0A89F-BD2B-45B1-96BA-BA6A19862EE1}" dt="2024-05-17T19:58:44.146" v="211" actId="20577"/>
      <pc:docMkLst>
        <pc:docMk/>
      </pc:docMkLst>
      <pc:sldChg chg="modSp new mod">
        <pc:chgData name="Brandt Redd" userId="be8ed540b98adac0" providerId="LiveId" clId="{F7B0A89F-BD2B-45B1-96BA-BA6A19862EE1}" dt="2024-05-17T16:17:06.353" v="53" actId="20577"/>
        <pc:sldMkLst>
          <pc:docMk/>
          <pc:sldMk cId="852188939" sldId="273"/>
        </pc:sldMkLst>
        <pc:spChg chg="mod">
          <ac:chgData name="Brandt Redd" userId="be8ed540b98adac0" providerId="LiveId" clId="{F7B0A89F-BD2B-45B1-96BA-BA6A19862EE1}" dt="2024-05-17T16:16:58.006" v="49" actId="20577"/>
          <ac:spMkLst>
            <pc:docMk/>
            <pc:sldMk cId="852188939" sldId="273"/>
            <ac:spMk id="2" creationId="{02426F30-233A-2F3B-925E-65DC82D60450}"/>
          </ac:spMkLst>
        </pc:spChg>
        <pc:spChg chg="mod">
          <ac:chgData name="Brandt Redd" userId="be8ed540b98adac0" providerId="LiveId" clId="{F7B0A89F-BD2B-45B1-96BA-BA6A19862EE1}" dt="2024-05-17T16:17:06.353" v="53" actId="20577"/>
          <ac:spMkLst>
            <pc:docMk/>
            <pc:sldMk cId="852188939" sldId="273"/>
            <ac:spMk id="3" creationId="{9A9EAD62-81EA-F3B0-356C-3B3C4702A80F}"/>
          </ac:spMkLst>
        </pc:spChg>
      </pc:sldChg>
      <pc:sldChg chg="addSp modSp add mod">
        <pc:chgData name="Brandt Redd" userId="be8ed540b98adac0" providerId="LiveId" clId="{F7B0A89F-BD2B-45B1-96BA-BA6A19862EE1}" dt="2024-05-17T19:58:44.146" v="211" actId="20577"/>
        <pc:sldMkLst>
          <pc:docMk/>
          <pc:sldMk cId="1631903687" sldId="274"/>
        </pc:sldMkLst>
        <pc:spChg chg="add mod">
          <ac:chgData name="Brandt Redd" userId="be8ed540b98adac0" providerId="LiveId" clId="{F7B0A89F-BD2B-45B1-96BA-BA6A19862EE1}" dt="2024-05-17T19:58:44.146" v="211" actId="20577"/>
          <ac:spMkLst>
            <pc:docMk/>
            <pc:sldMk cId="1631903687" sldId="274"/>
            <ac:spMk id="4" creationId="{A4AEFFDC-8417-55E3-D692-C643D52A12D0}"/>
          </ac:spMkLst>
        </pc:spChg>
      </pc:sldChg>
    </pc:docChg>
  </pc:docChgLst>
  <pc:docChgLst>
    <pc:chgData name="Brandt Redd" userId="be8ed540b98adac0" providerId="LiveId" clId="{5B6A27A5-427B-41FF-9B02-8F3B284E349A}"/>
    <pc:docChg chg="delSld">
      <pc:chgData name="Brandt Redd" userId="be8ed540b98adac0" providerId="LiveId" clId="{5B6A27A5-427B-41FF-9B02-8F3B284E349A}" dt="2024-11-08T15:05:41.597" v="0" actId="47"/>
      <pc:docMkLst>
        <pc:docMk/>
      </pc:docMkLst>
      <pc:sldChg chg="del">
        <pc:chgData name="Brandt Redd" userId="be8ed540b98adac0" providerId="LiveId" clId="{5B6A27A5-427B-41FF-9B02-8F3B284E349A}" dt="2024-11-08T15:05:41.597" v="0" actId="47"/>
        <pc:sldMkLst>
          <pc:docMk/>
          <pc:sldMk cId="1631903687" sldId="274"/>
        </pc:sldMkLst>
      </pc:sldChg>
    </pc:docChg>
  </pc:docChgLst>
  <pc:docChgLst>
    <pc:chgData name="Brandt Redd" userId="be8ed540b98adac0" providerId="LiveId" clId="{1FAB3354-900D-44EB-A2DC-ABCD55E37A92}"/>
    <pc:docChg chg="custSel addSld modSld">
      <pc:chgData name="Brandt Redd" userId="be8ed540b98adac0" providerId="LiveId" clId="{1FAB3354-900D-44EB-A2DC-ABCD55E37A92}" dt="2023-11-10T21:58:05.167" v="743" actId="20577"/>
      <pc:docMkLst>
        <pc:docMk/>
      </pc:docMkLst>
      <pc:sldChg chg="addSp modSp mod">
        <pc:chgData name="Brandt Redd" userId="be8ed540b98adac0" providerId="LiveId" clId="{1FAB3354-900D-44EB-A2DC-ABCD55E37A92}" dt="2023-11-09T23:46:41.188" v="660" actId="1076"/>
        <pc:sldMkLst>
          <pc:docMk/>
          <pc:sldMk cId="1021776661" sldId="261"/>
        </pc:sldMkLst>
        <pc:spChg chg="add mod">
          <ac:chgData name="Brandt Redd" userId="be8ed540b98adac0" providerId="LiveId" clId="{1FAB3354-900D-44EB-A2DC-ABCD55E37A92}" dt="2023-11-09T23:46:41.188" v="660" actId="1076"/>
          <ac:spMkLst>
            <pc:docMk/>
            <pc:sldMk cId="1021776661" sldId="261"/>
            <ac:spMk id="4" creationId="{CF04A4FD-BD3E-02C4-F0D3-AF54141F99A2}"/>
          </ac:spMkLst>
        </pc:spChg>
      </pc:sldChg>
      <pc:sldChg chg="modSp mod">
        <pc:chgData name="Brandt Redd" userId="be8ed540b98adac0" providerId="LiveId" clId="{1FAB3354-900D-44EB-A2DC-ABCD55E37A92}" dt="2023-11-10T20:12:06.759" v="666" actId="313"/>
        <pc:sldMkLst>
          <pc:docMk/>
          <pc:sldMk cId="388423268" sldId="263"/>
        </pc:sldMkLst>
        <pc:spChg chg="mod">
          <ac:chgData name="Brandt Redd" userId="be8ed540b98adac0" providerId="LiveId" clId="{1FAB3354-900D-44EB-A2DC-ABCD55E37A92}" dt="2023-11-10T20:12:06.759" v="666" actId="313"/>
          <ac:spMkLst>
            <pc:docMk/>
            <pc:sldMk cId="388423268" sldId="263"/>
            <ac:spMk id="6" creationId="{690F0479-865A-5DF6-C857-344FFBC034CA}"/>
          </ac:spMkLst>
        </pc:spChg>
      </pc:sldChg>
      <pc:sldChg chg="addSp modSp mod">
        <pc:chgData name="Brandt Redd" userId="be8ed540b98adac0" providerId="LiveId" clId="{1FAB3354-900D-44EB-A2DC-ABCD55E37A92}" dt="2023-11-09T23:47:00.173" v="662" actId="1076"/>
        <pc:sldMkLst>
          <pc:docMk/>
          <pc:sldMk cId="2737288676" sldId="264"/>
        </pc:sldMkLst>
        <pc:spChg chg="add mod">
          <ac:chgData name="Brandt Redd" userId="be8ed540b98adac0" providerId="LiveId" clId="{1FAB3354-900D-44EB-A2DC-ABCD55E37A92}" dt="2023-11-09T23:47:00.173" v="662" actId="1076"/>
          <ac:spMkLst>
            <pc:docMk/>
            <pc:sldMk cId="2737288676" sldId="264"/>
            <ac:spMk id="4" creationId="{A9BA350E-ECF2-8CF7-1AAF-AD4A1C119DED}"/>
          </ac:spMkLst>
        </pc:spChg>
      </pc:sldChg>
      <pc:sldChg chg="addSp modSp mod">
        <pc:chgData name="Brandt Redd" userId="be8ed540b98adac0" providerId="LiveId" clId="{1FAB3354-900D-44EB-A2DC-ABCD55E37A92}" dt="2023-11-09T23:47:15.335" v="664" actId="1076"/>
        <pc:sldMkLst>
          <pc:docMk/>
          <pc:sldMk cId="4101559964" sldId="268"/>
        </pc:sldMkLst>
        <pc:spChg chg="add mod">
          <ac:chgData name="Brandt Redd" userId="be8ed540b98adac0" providerId="LiveId" clId="{1FAB3354-900D-44EB-A2DC-ABCD55E37A92}" dt="2023-11-09T23:47:15.335" v="664" actId="1076"/>
          <ac:spMkLst>
            <pc:docMk/>
            <pc:sldMk cId="4101559964" sldId="268"/>
            <ac:spMk id="4" creationId="{2C9E6CF1-2E91-C82E-5B44-492404290A5E}"/>
          </ac:spMkLst>
        </pc:spChg>
      </pc:sldChg>
      <pc:sldChg chg="modSp mod">
        <pc:chgData name="Brandt Redd" userId="be8ed540b98adac0" providerId="LiveId" clId="{1FAB3354-900D-44EB-A2DC-ABCD55E37A92}" dt="2023-11-10T21:58:05.167" v="743" actId="20577"/>
        <pc:sldMkLst>
          <pc:docMk/>
          <pc:sldMk cId="3273578684" sldId="271"/>
        </pc:sldMkLst>
        <pc:spChg chg="mod">
          <ac:chgData name="Brandt Redd" userId="be8ed540b98adac0" providerId="LiveId" clId="{1FAB3354-900D-44EB-A2DC-ABCD55E37A92}" dt="2023-11-10T21:58:05.167" v="743" actId="20577"/>
          <ac:spMkLst>
            <pc:docMk/>
            <pc:sldMk cId="3273578684" sldId="271"/>
            <ac:spMk id="4" creationId="{A6F5A3D3-4A50-E96C-44C9-4C9E0EB1B66E}"/>
          </ac:spMkLst>
        </pc:spChg>
      </pc:sldChg>
      <pc:sldChg chg="modSp new mod">
        <pc:chgData name="Brandt Redd" userId="be8ed540b98adac0" providerId="LiveId" clId="{1FAB3354-900D-44EB-A2DC-ABCD55E37A92}" dt="2023-11-09T23:43:08.560" v="626" actId="20577"/>
        <pc:sldMkLst>
          <pc:docMk/>
          <pc:sldMk cId="1243026259" sldId="272"/>
        </pc:sldMkLst>
        <pc:spChg chg="mod">
          <ac:chgData name="Brandt Redd" userId="be8ed540b98adac0" providerId="LiveId" clId="{1FAB3354-900D-44EB-A2DC-ABCD55E37A92}" dt="2023-11-09T23:39:29.433" v="19" actId="20577"/>
          <ac:spMkLst>
            <pc:docMk/>
            <pc:sldMk cId="1243026259" sldId="272"/>
            <ac:spMk id="2" creationId="{2F57F759-9FD8-19FC-BC16-11F24AB3F8D4}"/>
          </ac:spMkLst>
        </pc:spChg>
        <pc:spChg chg="mod">
          <ac:chgData name="Brandt Redd" userId="be8ed540b98adac0" providerId="LiveId" clId="{1FAB3354-900D-44EB-A2DC-ABCD55E37A92}" dt="2023-11-09T23:43:08.560" v="626" actId="20577"/>
          <ac:spMkLst>
            <pc:docMk/>
            <pc:sldMk cId="1243026259" sldId="272"/>
            <ac:spMk id="3" creationId="{553227C7-2615-0675-9358-48F175497D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F553-3815-3EF9-F97D-F6DB38691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9F33E-4C7B-B728-A2CD-D31F7070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A3D18-FC2B-77D7-0A50-1D63CC2BA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74A74-CC8D-5BD7-23A2-D50FA7F25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1B78C-6F9E-DE4F-CE01-5F57EAA1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40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D41F-657B-E1CB-73A4-493FB9C6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B0706-D98A-2C93-188F-14C9F23F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6F38-8121-52E3-6590-257A85D4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9130-E6DA-99F9-7838-D4A5929F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4525F-AF55-A927-92BD-D74F4512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5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4AD42-EAB6-598D-5378-83EC60FC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65C93-F3B2-74A9-54C2-474519650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47C8F-CF3C-04C5-8DB5-BB6D6000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7BCEB-478E-B21C-358D-C04CF5606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02848-488A-3E3A-C8C9-65309ECE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4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CF53D-C4C0-EA5B-6289-409772D6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B00F-2DD6-9227-31D9-A3EA49742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51A84-CCA1-1004-8ACA-B0AD92738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D16EE-05F3-BCAD-330F-AEDF069E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697D5-56E3-76A2-DB14-517F7EFE1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E23D5-DA76-0F01-4A44-D6166EA5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1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46EB-4AEC-4887-807A-9EDCA7F2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DBCF1-FBAB-929C-A44E-85882A6CF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FE4AE-8426-1CCC-453B-662A309FB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40A62-C2AC-8E47-6BB2-005B61DBA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F56BE-8570-CDAD-019B-990A7C187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E15078-E782-D814-64C9-089C67EA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8FEC44-FFE9-EF1A-F7E0-6924E61F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B1CA9-4B76-083B-86DD-3CD524FB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4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A100-0A45-D6B8-D32A-F8121B694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E02FE-631B-3A98-86B9-1711F54A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4A8A6-255F-5AD5-E959-BA557E65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7243A4-53C8-2330-91CC-8075C0B1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4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460A55-C638-EDB9-7E9C-0EE1396C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81E27-5D2C-2FA7-554F-555EC770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BF375-5320-9FDA-3535-EFDF417D4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B4D4-368E-C7DE-0260-33259141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9F888-F702-F6CC-7FEF-3DF8DDA2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30279-3396-08E7-02B7-01A593B54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2CCD5-8AC0-70CC-A970-EBE181A0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65596-61F5-E5B9-B073-936228B1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6C2E8-26BB-D5C7-A320-601B0CDD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0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45D97-7EAF-48CE-7192-AAE87C263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E3C8F-9A67-752E-900F-78A082453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A2450-C802-51B0-AFA7-92D70CC32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2CC6D-B003-144E-8454-E564C3D1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7A8AE-56AC-50C0-A516-EE68C5AE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4047B-E50D-FCC7-DC6A-CC16D58C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4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288A-9681-E7F1-B539-3F12DBDC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B8DA5-0BF0-97DB-BCE2-FFE4E21F3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02427-26C3-FC9A-2ABF-547A54B4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A6D65-BC85-059A-90B4-0DE49F53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2249-63FE-AC59-83B7-85415582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2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B6595-6520-7543-47E6-00A6D9F454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84AD90-337F-3652-EA00-1329D2EB3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839-7E90-A6FE-2C72-0333679A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82338-90C8-C316-A12E-BAD28AE2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264B4-A199-65D5-9CFF-72A7FB91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7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F8368-9861-A9F6-B9AE-6D74C420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412B3-567E-A387-CB0A-4FEEB5130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DD3E8-4FB3-60B1-5E3B-C56C1C468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7F967-E12F-458B-922D-A88B87AB4DD6}" type="datetimeFigureOut">
              <a:rPr lang="en-US" smtClean="0"/>
              <a:t>2024-11-08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9C48B-9B15-2C94-8FE8-60AEB8AFAE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F79FE-1DB2-4235-9402-ECD8EE536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538FB-5988-4DFE-89DD-BD9DB9A34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6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yu-itc-210.github.io/walkthrough/CSRF-COR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essage_authentication_code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659D-844B-B92C-4D3E-0988906D3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Cross-Site Request Forgery (CSRF) and CORS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9331E-4EBE-77C0-8A55-7073CE2820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 – S27</a:t>
            </a:r>
          </a:p>
        </p:txBody>
      </p:sp>
    </p:spTree>
    <p:extLst>
      <p:ext uri="{BB962C8B-B14F-4D97-AF65-F5344CB8AC3E}">
        <p14:creationId xmlns:p14="http://schemas.microsoft.com/office/powerpoint/2010/main" val="29890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00CAF-FED4-7808-7660-5570D9BE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Cross-Site Request Forgery (CSRF)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779F7-3E4F-9A2E-8A2C-28BECB75B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65154"/>
          </a:xfrm>
        </p:spPr>
        <p:txBody>
          <a:bodyPr/>
          <a:lstStyle/>
          <a:p>
            <a:r>
              <a:rPr lang="en-US" b="0" i="0" dirty="0">
                <a:solidFill>
                  <a:srgbClr val="1B1B1B"/>
                </a:solidFill>
                <a:effectLst/>
                <a:latin typeface="Inter"/>
              </a:rPr>
              <a:t>“An attack that impersonates a trusted user and sends a website unwanted commands.” (MDN)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6617D-8A9F-BFD0-88BB-8225BDD28C3D}"/>
              </a:ext>
            </a:extLst>
          </p:cNvPr>
          <p:cNvSpPr txBox="1"/>
          <p:nvPr/>
        </p:nvSpPr>
        <p:spPr>
          <a:xfrm>
            <a:off x="2048041" y="2998271"/>
            <a:ext cx="894614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img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="https://www.example.com/api.php?operation=delete&amp;id=2384"/&gt;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D096-D39D-602B-54A3-33EFF2A86C54}"/>
              </a:ext>
            </a:extLst>
          </p:cNvPr>
          <p:cNvSpPr txBox="1"/>
          <p:nvPr/>
        </p:nvSpPr>
        <p:spPr>
          <a:xfrm>
            <a:off x="502650" y="3993215"/>
            <a:ext cx="11454065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&lt;a </a:t>
            </a:r>
            <a:r>
              <a:rPr lang="en-US" dirty="0" err="1">
                <a:latin typeface="Consolas" panose="020B0609020204030204" pitchFamily="49" charset="0"/>
              </a:rPr>
              <a:t>href</a:t>
            </a:r>
            <a:r>
              <a:rPr lang="en-US" dirty="0">
                <a:latin typeface="Consolas" panose="020B0609020204030204" pitchFamily="49" charset="0"/>
              </a:rPr>
              <a:t>="https://cls.example.com/</a:t>
            </a:r>
            <a:r>
              <a:rPr lang="en-US" dirty="0" err="1">
                <a:latin typeface="Consolas" panose="020B0609020204030204" pitchFamily="49" charset="0"/>
              </a:rPr>
              <a:t>login?returnTo</a:t>
            </a:r>
            <a:r>
              <a:rPr lang="en-US" dirty="0">
                <a:latin typeface="Consolas" panose="020B0609020204030204" pitchFamily="49" charset="0"/>
              </a:rPr>
              <a:t>=https://nefarious.org/getcredential"&gt;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Login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400495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BFD92-555D-25B6-0275-452F29271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Cross-Origin Resource Sharing (CORS)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345E5-EEF7-5338-4C0E-6A145DC23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be called “Cross-Origin Request Security” because that’s what it’s really for.</a:t>
            </a:r>
          </a:p>
          <a:p>
            <a:r>
              <a:rPr lang="en-US" dirty="0"/>
              <a:t>Special headers sent in the HTTP request and response plus a special “preflight” request.</a:t>
            </a:r>
          </a:p>
        </p:txBody>
      </p:sp>
    </p:spTree>
    <p:extLst>
      <p:ext uri="{BB962C8B-B14F-4D97-AF65-F5344CB8AC3E}">
        <p14:creationId xmlns:p14="http://schemas.microsoft.com/office/powerpoint/2010/main" val="243877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6F30-233A-2F3B-925E-65DC82D6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Walkthrough / Demo: CSRF and CORS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AD62-81EA-F3B0-356C-3B3C4702A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https://byu-itc-210.github.io/walkthrough/CSRF-CORS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18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E519-F144-08E7-F538-D6FF4E52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Demo1: A Naïve REST Server</a:t>
            </a:r>
          </a:p>
        </p:txBody>
      </p:sp>
      <p:pic>
        <p:nvPicPr>
          <p:cNvPr id="8" name="Picture 7" descr="Cartoon character holding a tray and a drink&#10;&#10;Description automatically generated">
            <a:extLst>
              <a:ext uri="{FF2B5EF4-FFF2-40B4-BE49-F238E27FC236}">
                <a16:creationId xmlns:a16="http://schemas.microsoft.com/office/drawing/2014/main" id="{8E996E1B-D794-8FE4-0E5A-0B290AC14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263" y="1690687"/>
            <a:ext cx="4215063" cy="4215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0036DF-638B-6D54-501B-965C6D6B64BD}"/>
              </a:ext>
            </a:extLst>
          </p:cNvPr>
          <p:cNvSpPr txBox="1"/>
          <p:nvPr/>
        </p:nvSpPr>
        <p:spPr>
          <a:xfrm>
            <a:off x="5395494" y="5994401"/>
            <a:ext cx="483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Image Creator: “A drawing of a naïve server.”</a:t>
            </a:r>
          </a:p>
        </p:txBody>
      </p:sp>
    </p:spTree>
    <p:extLst>
      <p:ext uri="{BB962C8B-B14F-4D97-AF65-F5344CB8AC3E}">
        <p14:creationId xmlns:p14="http://schemas.microsoft.com/office/powerpoint/2010/main" val="280174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8A9D-3415-F760-DCB6-BBA815EE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Problem: Cannot be accessed across sites.</a:t>
            </a:r>
          </a:p>
        </p:txBody>
      </p:sp>
    </p:spTree>
    <p:extLst>
      <p:ext uri="{BB962C8B-B14F-4D97-AF65-F5344CB8AC3E}">
        <p14:creationId xmlns:p14="http://schemas.microsoft.com/office/powerpoint/2010/main" val="212247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900D03-4EEF-F45C-CBB5-8B52AAAB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526"/>
            <a:ext cx="10515600" cy="719221"/>
          </a:xfrm>
        </p:spPr>
        <p:txBody>
          <a:bodyPr/>
          <a:lstStyle/>
          <a:p>
            <a:r>
              <a:rPr lang="en-US" dirty="0"/>
              <a:t>CORS Preflight Headers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ED093-A01B-7863-06C4-0351DEE12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80"/>
            <a:ext cx="10515600" cy="55986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Request Headers (automatically filled in by the browser)</a:t>
            </a:r>
          </a:p>
          <a:p>
            <a:pPr lvl="1"/>
            <a:r>
              <a:rPr lang="en-US" dirty="0"/>
              <a:t>Access-Control-Request-Headers</a:t>
            </a:r>
          </a:p>
          <a:p>
            <a:pPr lvl="2"/>
            <a:r>
              <a:rPr lang="en-US" dirty="0"/>
              <a:t>Indicates headers that will be included in the request</a:t>
            </a:r>
          </a:p>
          <a:p>
            <a:pPr lvl="1"/>
            <a:r>
              <a:rPr lang="en-US" dirty="0"/>
              <a:t>Access-Control-Request-Method</a:t>
            </a:r>
          </a:p>
          <a:p>
            <a:pPr lvl="2"/>
            <a:r>
              <a:rPr lang="en-US" dirty="0"/>
              <a:t>Indicates which method will be in the content request</a:t>
            </a:r>
          </a:p>
          <a:p>
            <a:pPr lvl="1"/>
            <a:r>
              <a:rPr lang="en-US" dirty="0"/>
              <a:t>Origin</a:t>
            </a:r>
          </a:p>
          <a:p>
            <a:pPr lvl="2"/>
            <a:r>
              <a:rPr lang="en-US" dirty="0"/>
              <a:t>Indicates the origin of this request (host of the page making the request)</a:t>
            </a:r>
          </a:p>
          <a:p>
            <a:r>
              <a:rPr lang="en-US" dirty="0"/>
              <a:t>Response Headers</a:t>
            </a:r>
          </a:p>
          <a:p>
            <a:pPr lvl="1"/>
            <a:r>
              <a:rPr lang="en-US" dirty="0"/>
              <a:t>Access-Control-Allow-Method</a:t>
            </a:r>
          </a:p>
          <a:p>
            <a:pPr lvl="2"/>
            <a:r>
              <a:rPr lang="en-US" dirty="0"/>
              <a:t>Acceptable methods (e.g. GET, POST, PUT, DELETE)</a:t>
            </a:r>
          </a:p>
          <a:p>
            <a:pPr lvl="1"/>
            <a:r>
              <a:rPr lang="en-US" dirty="0"/>
              <a:t>Access-Control-Allow-Headers</a:t>
            </a:r>
          </a:p>
          <a:p>
            <a:pPr lvl="2"/>
            <a:r>
              <a:rPr lang="en-US" dirty="0"/>
              <a:t>Response headers that can be exposed to JavaScript</a:t>
            </a:r>
          </a:p>
          <a:p>
            <a:pPr lvl="1"/>
            <a:r>
              <a:rPr lang="en-US" dirty="0"/>
              <a:t>Access-Control-Allow-Origin</a:t>
            </a:r>
          </a:p>
          <a:p>
            <a:pPr lvl="2"/>
            <a:r>
              <a:rPr lang="en-US" dirty="0"/>
              <a:t>Acceptable origin for the request</a:t>
            </a:r>
          </a:p>
          <a:p>
            <a:pPr lvl="1"/>
            <a:r>
              <a:rPr lang="en-US" dirty="0"/>
              <a:t>Access-Control-Allow-Credentials</a:t>
            </a:r>
          </a:p>
          <a:p>
            <a:pPr lvl="2"/>
            <a:r>
              <a:rPr lang="en-US" dirty="0"/>
              <a:t>Cookies may be submitted to this URL</a:t>
            </a:r>
          </a:p>
          <a:p>
            <a:pPr lvl="1"/>
            <a:r>
              <a:rPr lang="en-US" dirty="0"/>
              <a:t>Access-Control-Max-Age</a:t>
            </a:r>
          </a:p>
          <a:p>
            <a:pPr lvl="2"/>
            <a:r>
              <a:rPr lang="en-US" dirty="0"/>
              <a:t>Number of seconds this preflight request can be cached by the browser</a:t>
            </a:r>
          </a:p>
          <a:p>
            <a:pPr lvl="1"/>
            <a:r>
              <a:rPr lang="en-US" dirty="0"/>
              <a:t>Varies</a:t>
            </a:r>
          </a:p>
          <a:p>
            <a:pPr lvl="2"/>
            <a:r>
              <a:rPr lang="en-US" dirty="0"/>
              <a:t>The inbound headers that would change the output of this preflight.</a:t>
            </a:r>
          </a:p>
        </p:txBody>
      </p:sp>
    </p:spTree>
    <p:extLst>
      <p:ext uri="{BB962C8B-B14F-4D97-AF65-F5344CB8AC3E}">
        <p14:creationId xmlns:p14="http://schemas.microsoft.com/office/powerpoint/2010/main" val="30288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900D03-4EEF-F45C-CBB5-8B52AAAB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526"/>
            <a:ext cx="10515600" cy="719221"/>
          </a:xfrm>
        </p:spPr>
        <p:txBody>
          <a:bodyPr/>
          <a:lstStyle/>
          <a:p>
            <a:r>
              <a:rPr lang="en-US" dirty="0"/>
              <a:t>CORS Regular Headers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ED093-A01B-7863-06C4-0351DEE12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8780"/>
            <a:ext cx="10515600" cy="5598694"/>
          </a:xfrm>
        </p:spPr>
        <p:txBody>
          <a:bodyPr>
            <a:normAutofit/>
          </a:bodyPr>
          <a:lstStyle/>
          <a:p>
            <a:r>
              <a:rPr lang="en-US" dirty="0"/>
              <a:t>Request Headers (automatically filled in by the browser)</a:t>
            </a:r>
          </a:p>
          <a:p>
            <a:pPr lvl="1"/>
            <a:r>
              <a:rPr lang="en-US" dirty="0"/>
              <a:t>Origin</a:t>
            </a:r>
          </a:p>
          <a:p>
            <a:pPr lvl="2"/>
            <a:r>
              <a:rPr lang="en-US" dirty="0"/>
              <a:t>Indicates the origin of this request (host of the page making the request)</a:t>
            </a:r>
          </a:p>
          <a:p>
            <a:r>
              <a:rPr lang="en-US" dirty="0"/>
              <a:t>Response Headers</a:t>
            </a:r>
          </a:p>
          <a:p>
            <a:pPr lvl="1"/>
            <a:r>
              <a:rPr lang="en-US" dirty="0"/>
              <a:t>Access-Control-Allow-Origin</a:t>
            </a:r>
          </a:p>
          <a:p>
            <a:pPr lvl="2"/>
            <a:r>
              <a:rPr lang="en-US" dirty="0"/>
              <a:t>Acceptable origin for the response</a:t>
            </a:r>
          </a:p>
          <a:p>
            <a:pPr lvl="1"/>
            <a:r>
              <a:rPr lang="en-US" dirty="0"/>
              <a:t>Access-Control-Allow-Credentials</a:t>
            </a:r>
          </a:p>
          <a:p>
            <a:pPr lvl="2"/>
            <a:r>
              <a:rPr lang="en-US" dirty="0"/>
              <a:t>Cookies may be returned from this URL</a:t>
            </a:r>
          </a:p>
        </p:txBody>
      </p:sp>
    </p:spTree>
    <p:extLst>
      <p:ext uri="{BB962C8B-B14F-4D97-AF65-F5344CB8AC3E}">
        <p14:creationId xmlns:p14="http://schemas.microsoft.com/office/powerpoint/2010/main" val="10904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E519-F144-08E7-F538-D6FF4E52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Demo2: A Permissive REST Server</a:t>
            </a:r>
          </a:p>
        </p:txBody>
      </p:sp>
      <p:pic>
        <p:nvPicPr>
          <p:cNvPr id="1026" name="Picture 2" descr="A permissive server">
            <a:extLst>
              <a:ext uri="{FF2B5EF4-FFF2-40B4-BE49-F238E27FC236}">
                <a16:creationId xmlns:a16="http://schemas.microsoft.com/office/drawing/2014/main" id="{9A37B981-39D4-AA55-ABC8-08AEA898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809" y="1394300"/>
            <a:ext cx="4695216" cy="469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0F0479-865A-5DF6-C857-344FFBC034CA}"/>
              </a:ext>
            </a:extLst>
          </p:cNvPr>
          <p:cNvSpPr txBox="1"/>
          <p:nvPr/>
        </p:nvSpPr>
        <p:spPr>
          <a:xfrm>
            <a:off x="5550398" y="6089516"/>
            <a:ext cx="466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Image Creator: “Draw a permissive server.”</a:t>
            </a:r>
          </a:p>
        </p:txBody>
      </p:sp>
    </p:spTree>
    <p:extLst>
      <p:ext uri="{BB962C8B-B14F-4D97-AF65-F5344CB8AC3E}">
        <p14:creationId xmlns:p14="http://schemas.microsoft.com/office/powerpoint/2010/main" val="388423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8A9D-3415-F760-DCB6-BBA815EE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Problem: Cross-Site Request Forgery (CSRF)</a:t>
            </a:r>
          </a:p>
        </p:txBody>
      </p:sp>
    </p:spTree>
    <p:extLst>
      <p:ext uri="{BB962C8B-B14F-4D97-AF65-F5344CB8AC3E}">
        <p14:creationId xmlns:p14="http://schemas.microsoft.com/office/powerpoint/2010/main" val="29380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66D5A-100B-7FC4-6538-3C24CCA3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Protecting against CSRF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D90D-4BFB-511D-EC0B-6630571EF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/>
              <a:t>Stick with single origin (no CORS headers)</a:t>
            </a:r>
          </a:p>
          <a:p>
            <a:r>
              <a:rPr lang="en-US" sz="2200"/>
              <a:t>Limit the scope of your credentials (cookies and tokens)</a:t>
            </a:r>
          </a:p>
          <a:p>
            <a:pPr lvl="1"/>
            <a:r>
              <a:rPr lang="en-US" sz="2200"/>
              <a:t>E.g. Tie the token to one and only one Origin</a:t>
            </a:r>
          </a:p>
          <a:p>
            <a:r>
              <a:rPr lang="en-US" sz="2200"/>
              <a:t>Use CORS Carefully</a:t>
            </a:r>
          </a:p>
          <a:p>
            <a:pPr lvl="1"/>
            <a:r>
              <a:rPr lang="en-US" sz="2200"/>
              <a:t>Only permit the origins and methods that are expected</a:t>
            </a:r>
          </a:p>
          <a:p>
            <a:r>
              <a:rPr lang="en-US" sz="2200"/>
              <a:t>Implement the REST pattern in your APIs</a:t>
            </a:r>
          </a:p>
          <a:p>
            <a:pPr lvl="1"/>
            <a:r>
              <a:rPr lang="en-US" sz="2200"/>
              <a:t>No changes to the data with a GET request</a:t>
            </a:r>
          </a:p>
          <a:p>
            <a:pPr lvl="1"/>
            <a:endParaRPr lang="en-US" sz="2200"/>
          </a:p>
        </p:txBody>
      </p:sp>
      <p:pic>
        <p:nvPicPr>
          <p:cNvPr id="2050" name="Picture 2" descr="Someone defending from CSRF">
            <a:extLst>
              <a:ext uri="{FF2B5EF4-FFF2-40B4-BE49-F238E27FC236}">
                <a16:creationId xmlns:a16="http://schemas.microsoft.com/office/drawing/2014/main" id="{094E29F1-DA07-4A88-C30B-A8F77E94A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-3" b="-3"/>
          <a:stretch/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4A4FD-BD3E-02C4-F0D3-AF54141F99A2}"/>
              </a:ext>
            </a:extLst>
          </p:cNvPr>
          <p:cNvSpPr txBox="1"/>
          <p:nvPr/>
        </p:nvSpPr>
        <p:spPr>
          <a:xfrm>
            <a:off x="9646190" y="6154912"/>
            <a:ext cx="197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1021776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FB4C-89B4-0429-053A-00DDC2B4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Demo3: Secure Cookies</a:t>
            </a:r>
          </a:p>
        </p:txBody>
      </p:sp>
      <p:pic>
        <p:nvPicPr>
          <p:cNvPr id="3074" name="Picture 2" descr="A cookie shaped like a lock">
            <a:extLst>
              <a:ext uri="{FF2B5EF4-FFF2-40B4-BE49-F238E27FC236}">
                <a16:creationId xmlns:a16="http://schemas.microsoft.com/office/drawing/2014/main" id="{3FD0D788-DCA1-66B1-71DC-2984153892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BA350E-ECF2-8CF7-1AAF-AD4A1C119DED}"/>
              </a:ext>
            </a:extLst>
          </p:cNvPr>
          <p:cNvSpPr txBox="1"/>
          <p:nvPr/>
        </p:nvSpPr>
        <p:spPr>
          <a:xfrm>
            <a:off x="6296128" y="6145685"/>
            <a:ext cx="197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273728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8A9D-3415-F760-DCB6-BBA815EE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Problem: Fails if third-party cookies</a:t>
            </a:r>
            <a:br>
              <a:rPr lang="en-US" dirty="0"/>
            </a:br>
            <a:r>
              <a:rPr lang="en-US" dirty="0"/>
              <a:t>are disabled.</a:t>
            </a:r>
          </a:p>
        </p:txBody>
      </p:sp>
    </p:spTree>
    <p:extLst>
      <p:ext uri="{BB962C8B-B14F-4D97-AF65-F5344CB8AC3E}">
        <p14:creationId xmlns:p14="http://schemas.microsoft.com/office/powerpoint/2010/main" val="214453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DAE8D6-6986-9002-BDC2-C40E1FC7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Authentication Tokens in JavaScript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EF748-9CF8-1202-8D0E-ABC15C3AD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Retrieve a token with an authentication request</a:t>
            </a:r>
          </a:p>
          <a:p>
            <a:pPr lvl="1"/>
            <a:r>
              <a:rPr lang="en-US" dirty="0"/>
              <a:t>A login call as with RestSpace.dicax.org.</a:t>
            </a:r>
          </a:p>
          <a:p>
            <a:pPr lvl="1"/>
            <a:r>
              <a:rPr lang="en-US" dirty="0"/>
              <a:t>A token received from </a:t>
            </a:r>
            <a:r>
              <a:rPr lang="en-US" dirty="0" err="1"/>
              <a:t>Oauth</a:t>
            </a:r>
            <a:endParaRPr lang="en-US" dirty="0"/>
          </a:p>
          <a:p>
            <a:pPr lvl="1"/>
            <a:r>
              <a:rPr lang="en-US" dirty="0"/>
              <a:t>Formats: JSON Web Token (JWT) or URL Query formatted token. Either way it has a Message Authentication Code (MAC) to prevent forgery.</a:t>
            </a:r>
          </a:p>
          <a:p>
            <a:r>
              <a:rPr lang="en-US" dirty="0"/>
              <a:t>JavaScript controls the token</a:t>
            </a:r>
          </a:p>
          <a:p>
            <a:pPr lvl="1"/>
            <a:r>
              <a:rPr lang="en-US" dirty="0"/>
              <a:t>Stores it for the length of the session</a:t>
            </a:r>
          </a:p>
          <a:p>
            <a:pPr lvl="1"/>
            <a:r>
              <a:rPr lang="en-US" dirty="0"/>
              <a:t>Presents it in a request header with each request</a:t>
            </a:r>
          </a:p>
          <a:p>
            <a:pPr lvl="2"/>
            <a:r>
              <a:rPr lang="en-US" dirty="0"/>
              <a:t>Authorization: Bearer &lt;token&gt;</a:t>
            </a:r>
          </a:p>
          <a:p>
            <a:pPr lvl="1"/>
            <a:r>
              <a:rPr lang="en-US" dirty="0"/>
              <a:t>Periodically updates tokens since they tend to expire.</a:t>
            </a:r>
          </a:p>
          <a:p>
            <a:pPr lvl="2"/>
            <a:r>
              <a:rPr lang="en-US" dirty="0"/>
              <a:t>Authentication-Info: Bearer-Update &lt;token&gt;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96B39-7E47-29B2-E80F-E1C8D70CA683}"/>
              </a:ext>
            </a:extLst>
          </p:cNvPr>
          <p:cNvSpPr txBox="1"/>
          <p:nvPr/>
        </p:nvSpPr>
        <p:spPr>
          <a:xfrm>
            <a:off x="5838273" y="6492875"/>
            <a:ext cx="6353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See: </a:t>
            </a:r>
            <a:r>
              <a:rPr lang="en-US" dirty="0">
                <a:hlinkClick r:id="rId2"/>
              </a:rPr>
              <a:t>https://en.wikipedia.org/wiki/Message_authentication_code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89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AFB4C-89B4-0429-053A-00DDC2B4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Demo4: Authentication Tokens</a:t>
            </a:r>
          </a:p>
        </p:txBody>
      </p:sp>
      <p:pic>
        <p:nvPicPr>
          <p:cNvPr id="4098" name="Picture 2" descr="A token with an image of a cat on it">
            <a:extLst>
              <a:ext uri="{FF2B5EF4-FFF2-40B4-BE49-F238E27FC236}">
                <a16:creationId xmlns:a16="http://schemas.microsoft.com/office/drawing/2014/main" id="{9A4C705E-94E7-6360-02D1-53A8D262F5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9E6CF1-2E91-C82E-5B44-492404290A5E}"/>
              </a:ext>
            </a:extLst>
          </p:cNvPr>
          <p:cNvSpPr txBox="1"/>
          <p:nvPr/>
        </p:nvSpPr>
        <p:spPr>
          <a:xfrm>
            <a:off x="6405684" y="6176963"/>
            <a:ext cx="1975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410155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8A9D-3415-F760-DCB6-BBA815EE8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Problem: Sharing Authentication Tokens Across Tabs</a:t>
            </a:r>
          </a:p>
        </p:txBody>
      </p:sp>
    </p:spTree>
    <p:extLst>
      <p:ext uri="{BB962C8B-B14F-4D97-AF65-F5344CB8AC3E}">
        <p14:creationId xmlns:p14="http://schemas.microsoft.com/office/powerpoint/2010/main" val="520414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0C1B4-39EB-E1A9-B02A-EE9A1108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store an Authentication Token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5A3D3-4A50-E96C-44C9-4C9E0EB1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depends on your application:</a:t>
            </a:r>
          </a:p>
          <a:p>
            <a:r>
              <a:rPr lang="en-US" dirty="0" err="1"/>
              <a:t>sessionStorage</a:t>
            </a:r>
            <a:r>
              <a:rPr lang="en-US" dirty="0"/>
              <a:t> is not shared across tabs.</a:t>
            </a:r>
          </a:p>
          <a:p>
            <a:r>
              <a:rPr lang="en-US" dirty="0" err="1"/>
              <a:t>localStorage</a:t>
            </a:r>
            <a:r>
              <a:rPr lang="en-US" dirty="0"/>
              <a:t> is shared across the origin but it also persists across browser sessions (closing the browser will not log you out)</a:t>
            </a:r>
          </a:p>
          <a:p>
            <a:r>
              <a:rPr lang="en-US" dirty="0"/>
              <a:t>Clever use of </a:t>
            </a:r>
            <a:r>
              <a:rPr lang="en-US" dirty="0" err="1"/>
              <a:t>sessionStorage</a:t>
            </a:r>
            <a:r>
              <a:rPr lang="en-US" dirty="0"/>
              <a:t> with </a:t>
            </a:r>
            <a:r>
              <a:rPr lang="en-US" dirty="0" err="1"/>
              <a:t>localStorage</a:t>
            </a:r>
            <a:r>
              <a:rPr lang="en-US" dirty="0"/>
              <a:t> events will share the token </a:t>
            </a:r>
            <a:r>
              <a:rPr lang="en-US"/>
              <a:t>across tabs but clear when you close the browser.</a:t>
            </a:r>
            <a:endParaRPr lang="en-US" dirty="0"/>
          </a:p>
          <a:p>
            <a:pPr lvl="1"/>
            <a:r>
              <a:rPr lang="en-US" dirty="0"/>
              <a:t>An example is in the readings.</a:t>
            </a:r>
          </a:p>
          <a:p>
            <a:pPr lvl="1"/>
            <a:r>
              <a:rPr lang="en-US" dirty="0"/>
              <a:t>There are libraries and frameworks that implement this strategy.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78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F759-9FD8-19FC-BC16-11F24AB3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227C7-2615-0675-9358-48F175497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factors can make a site vulnerable to a CSRF attack? (Cross-site cookies, data changes on GET requests, etc.)</a:t>
            </a:r>
          </a:p>
          <a:p>
            <a:r>
              <a:rPr lang="en-US" dirty="0"/>
              <a:t>What do CORS headers do?</a:t>
            </a:r>
          </a:p>
          <a:p>
            <a:r>
              <a:rPr lang="en-US" dirty="0"/>
              <a:t>What does the browser do if a website doesn’t respond to an OPTIONS preflight request?</a:t>
            </a:r>
          </a:p>
          <a:p>
            <a:r>
              <a:rPr lang="en-US" dirty="0"/>
              <a:t>What does the browser do if CORS headers aren’t included on a cross-site request?</a:t>
            </a:r>
          </a:p>
          <a:p>
            <a:r>
              <a:rPr lang="en-US" dirty="0"/>
              <a:t>What are the advantages of managing tokens with JavaScript as compared with using cookies?</a:t>
            </a:r>
          </a:p>
        </p:txBody>
      </p:sp>
    </p:spTree>
    <p:extLst>
      <p:ext uri="{BB962C8B-B14F-4D97-AF65-F5344CB8AC3E}">
        <p14:creationId xmlns:p14="http://schemas.microsoft.com/office/powerpoint/2010/main" val="124302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732</Words>
  <Application>Microsoft Office PowerPoint</Application>
  <PresentationFormat>Widescreen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Inter</vt:lpstr>
      <vt:lpstr>Office Theme</vt:lpstr>
      <vt:lpstr>Cross-Site Request Forgery (CSRF) and CORS</vt:lpstr>
      <vt:lpstr>Cross-Site Request Forgery (CSRF)</vt:lpstr>
      <vt:lpstr>Cross-Origin Resource Sharing (CORS)</vt:lpstr>
      <vt:lpstr>Walkthrough / Demo: CSRF and CORS</vt:lpstr>
      <vt:lpstr>Demo1: A Naïve REST Server</vt:lpstr>
      <vt:lpstr>Problem: Cannot be accessed across sites.</vt:lpstr>
      <vt:lpstr>CORS Preflight Headers</vt:lpstr>
      <vt:lpstr>CORS Regular Headers</vt:lpstr>
      <vt:lpstr>Demo2: A Permissive REST Server</vt:lpstr>
      <vt:lpstr>Problem: Cross-Site Request Forgery (CSRF)</vt:lpstr>
      <vt:lpstr>Protecting against CSRF</vt:lpstr>
      <vt:lpstr>Demo3: Secure Cookies</vt:lpstr>
      <vt:lpstr>Problem: Fails if third-party cookies are disabled.</vt:lpstr>
      <vt:lpstr>Managing Authentication Tokens in JavaScript</vt:lpstr>
      <vt:lpstr>Demo4: Authentication Tokens</vt:lpstr>
      <vt:lpstr>Problem: Sharing Authentication Tokens Across Tabs</vt:lpstr>
      <vt:lpstr>Where to store an Authentication Token</vt:lpstr>
      <vt:lpstr>Study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Cross-Site Request Forgery (CSRF) and CORS</dc:title>
  <dc:creator>Brandt Redd</dc:creator>
  <cp:lastModifiedBy>Brandt Redd</cp:lastModifiedBy>
  <cp:revision>1</cp:revision>
  <dcterms:created xsi:type="dcterms:W3CDTF">2023-11-09T21:01:22Z</dcterms:created>
  <dcterms:modified xsi:type="dcterms:W3CDTF">2024-11-08T15:05:52Z</dcterms:modified>
</cp:coreProperties>
</file>