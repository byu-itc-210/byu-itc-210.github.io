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0"/>
  </p:notesMasterIdLst>
  <p:handoutMasterIdLst>
    <p:handoutMasterId r:id="rId31"/>
  </p:handoutMasterIdLst>
  <p:sldIdLst>
    <p:sldId id="291" r:id="rId2"/>
    <p:sldId id="344" r:id="rId3"/>
    <p:sldId id="302" r:id="rId4"/>
    <p:sldId id="335" r:id="rId5"/>
    <p:sldId id="325" r:id="rId6"/>
    <p:sldId id="349" r:id="rId7"/>
    <p:sldId id="338" r:id="rId8"/>
    <p:sldId id="339" r:id="rId9"/>
    <p:sldId id="331" r:id="rId10"/>
    <p:sldId id="340" r:id="rId11"/>
    <p:sldId id="329" r:id="rId12"/>
    <p:sldId id="342" r:id="rId13"/>
    <p:sldId id="332" r:id="rId14"/>
    <p:sldId id="345" r:id="rId15"/>
    <p:sldId id="346" r:id="rId16"/>
    <p:sldId id="333" r:id="rId17"/>
    <p:sldId id="324" r:id="rId18"/>
    <p:sldId id="348" r:id="rId19"/>
    <p:sldId id="330" r:id="rId20"/>
    <p:sldId id="347" r:id="rId21"/>
    <p:sldId id="354" r:id="rId22"/>
    <p:sldId id="300" r:id="rId23"/>
    <p:sldId id="350" r:id="rId24"/>
    <p:sldId id="351" r:id="rId25"/>
    <p:sldId id="352" r:id="rId26"/>
    <p:sldId id="353" r:id="rId27"/>
    <p:sldId id="310" r:id="rId28"/>
    <p:sldId id="323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08BD8E-C981-4DE2-9786-E888F700E6B8}" v="58" dt="2024-06-14T19:08:07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79" autoAdjust="0"/>
    <p:restoredTop sz="77920"/>
  </p:normalViewPr>
  <p:slideViewPr>
    <p:cSldViewPr>
      <p:cViewPr varScale="1">
        <p:scale>
          <a:sx n="89" d="100"/>
          <a:sy n="89" d="100"/>
        </p:scale>
        <p:origin x="129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65809434-1D07-46C4-A084-EEFC5FFD16BE}"/>
    <pc:docChg chg="redo custSel modSld">
      <pc:chgData name="Brandt Redd" userId="be8ed540b98adac0" providerId="LiveId" clId="{65809434-1D07-46C4-A084-EEFC5FFD16BE}" dt="2023-11-13T17:18:46.662" v="4" actId="20577"/>
      <pc:docMkLst>
        <pc:docMk/>
      </pc:docMkLst>
      <pc:sldChg chg="modSp mod">
        <pc:chgData name="Brandt Redd" userId="be8ed540b98adac0" providerId="LiveId" clId="{65809434-1D07-46C4-A084-EEFC5FFD16BE}" dt="2023-11-13T17:18:46.662" v="4" actId="20577"/>
        <pc:sldMkLst>
          <pc:docMk/>
          <pc:sldMk cId="3459664641" sldId="291"/>
        </pc:sldMkLst>
        <pc:spChg chg="mod">
          <ac:chgData name="Brandt Redd" userId="be8ed540b98adac0" providerId="LiveId" clId="{65809434-1D07-46C4-A084-EEFC5FFD16BE}" dt="2023-11-13T17:18:46.662" v="4" actId="20577"/>
          <ac:spMkLst>
            <pc:docMk/>
            <pc:sldMk cId="3459664641" sldId="291"/>
            <ac:spMk id="2" creationId="{B7811573-B7ED-465F-A6AF-2AA5AA60DED4}"/>
          </ac:spMkLst>
        </pc:spChg>
      </pc:sldChg>
    </pc:docChg>
  </pc:docChgLst>
  <pc:docChgLst>
    <pc:chgData name="Brandt Redd" userId="be8ed540b98adac0" providerId="LiveId" clId="{4908BD8E-C981-4DE2-9786-E888F700E6B8}"/>
    <pc:docChg chg="undo custSel addSld delSld modSld">
      <pc:chgData name="Brandt Redd" userId="be8ed540b98adac0" providerId="LiveId" clId="{4908BD8E-C981-4DE2-9786-E888F700E6B8}" dt="2024-06-14T19:08:07.097" v="2139" actId="1076"/>
      <pc:docMkLst>
        <pc:docMk/>
      </pc:docMkLst>
      <pc:sldChg chg="addSp modSp mod">
        <pc:chgData name="Brandt Redd" userId="be8ed540b98adac0" providerId="LiveId" clId="{4908BD8E-C981-4DE2-9786-E888F700E6B8}" dt="2024-06-14T19:04:58.386" v="2136" actId="1076"/>
        <pc:sldMkLst>
          <pc:docMk/>
          <pc:sldMk cId="0" sldId="300"/>
        </pc:sldMkLst>
        <pc:spChg chg="add mod">
          <ac:chgData name="Brandt Redd" userId="be8ed540b98adac0" providerId="LiveId" clId="{4908BD8E-C981-4DE2-9786-E888F700E6B8}" dt="2024-06-14T19:04:58.386" v="2136" actId="1076"/>
          <ac:spMkLst>
            <pc:docMk/>
            <pc:sldMk cId="0" sldId="300"/>
            <ac:spMk id="2" creationId="{F42D8CF1-63EB-D62D-B2D5-E9337BD15463}"/>
          </ac:spMkLst>
        </pc:spChg>
        <pc:spChg chg="add mod">
          <ac:chgData name="Brandt Redd" userId="be8ed540b98adac0" providerId="LiveId" clId="{4908BD8E-C981-4DE2-9786-E888F700E6B8}" dt="2024-06-14T18:43:58.374" v="2086" actId="1076"/>
          <ac:spMkLst>
            <pc:docMk/>
            <pc:sldMk cId="0" sldId="300"/>
            <ac:spMk id="3" creationId="{C6EBC660-E18A-FEBA-F708-A4056BB53AE7}"/>
          </ac:spMkLst>
        </pc:spChg>
        <pc:spChg chg="mod">
          <ac:chgData name="Brandt Redd" userId="be8ed540b98adac0" providerId="LiveId" clId="{4908BD8E-C981-4DE2-9786-E888F700E6B8}" dt="2024-06-14T19:04:25.556" v="2128" actId="20577"/>
          <ac:spMkLst>
            <pc:docMk/>
            <pc:sldMk cId="0" sldId="300"/>
            <ac:spMk id="39937" creationId="{65E9E676-2B09-47AF-8C6A-28577CEC89D4}"/>
          </ac:spMkLst>
        </pc:spChg>
        <pc:spChg chg="mod">
          <ac:chgData name="Brandt Redd" userId="be8ed540b98adac0" providerId="LiveId" clId="{4908BD8E-C981-4DE2-9786-E888F700E6B8}" dt="2024-06-14T19:04:52.742" v="2134" actId="20577"/>
          <ac:spMkLst>
            <pc:docMk/>
            <pc:sldMk cId="0" sldId="300"/>
            <ac:spMk id="39938" creationId="{9D32E4BC-0282-4DF5-AD93-EB423E999E44}"/>
          </ac:spMkLst>
        </pc:spChg>
        <pc:picChg chg="add mod">
          <ac:chgData name="Brandt Redd" userId="be8ed540b98adac0" providerId="LiveId" clId="{4908BD8E-C981-4DE2-9786-E888F700E6B8}" dt="2024-06-14T18:41:08.875" v="2016" actId="1076"/>
          <ac:picMkLst>
            <pc:docMk/>
            <pc:sldMk cId="0" sldId="300"/>
            <ac:picMk id="2050" creationId="{2A0EB829-45D1-90CC-7D59-29E1C7AA20CF}"/>
          </ac:picMkLst>
        </pc:picChg>
      </pc:sldChg>
      <pc:sldChg chg="modSp mod">
        <pc:chgData name="Brandt Redd" userId="be8ed540b98adac0" providerId="LiveId" clId="{4908BD8E-C981-4DE2-9786-E888F700E6B8}" dt="2024-06-14T17:12:18.196" v="1112" actId="5793"/>
        <pc:sldMkLst>
          <pc:docMk/>
          <pc:sldMk cId="0" sldId="310"/>
        </pc:sldMkLst>
        <pc:spChg chg="mod">
          <ac:chgData name="Brandt Redd" userId="be8ed540b98adac0" providerId="LiveId" clId="{4908BD8E-C981-4DE2-9786-E888F700E6B8}" dt="2024-06-14T17:12:18.196" v="1112" actId="5793"/>
          <ac:spMkLst>
            <pc:docMk/>
            <pc:sldMk cId="0" sldId="310"/>
            <ac:spMk id="41985" creationId="{2DC9DD4F-7654-4E68-87AE-F275F8A7057F}"/>
          </ac:spMkLst>
        </pc:spChg>
        <pc:spChg chg="mod">
          <ac:chgData name="Brandt Redd" userId="be8ed540b98adac0" providerId="LiveId" clId="{4908BD8E-C981-4DE2-9786-E888F700E6B8}" dt="2024-06-14T17:12:12.883" v="1100" actId="20577"/>
          <ac:spMkLst>
            <pc:docMk/>
            <pc:sldMk cId="0" sldId="310"/>
            <ac:spMk id="41986" creationId="{B8A20A5E-0B29-402D-AFA3-871595C98AC2}"/>
          </ac:spMkLst>
        </pc:spChg>
      </pc:sldChg>
      <pc:sldChg chg="modSp mod">
        <pc:chgData name="Brandt Redd" userId="be8ed540b98adac0" providerId="LiveId" clId="{4908BD8E-C981-4DE2-9786-E888F700E6B8}" dt="2024-06-14T16:01:34.584" v="24" actId="14100"/>
        <pc:sldMkLst>
          <pc:docMk/>
          <pc:sldMk cId="160618068" sldId="339"/>
        </pc:sldMkLst>
        <pc:spChg chg="mod">
          <ac:chgData name="Brandt Redd" userId="be8ed540b98adac0" providerId="LiveId" clId="{4908BD8E-C981-4DE2-9786-E888F700E6B8}" dt="2024-06-14T16:01:34.584" v="24" actId="14100"/>
          <ac:spMkLst>
            <pc:docMk/>
            <pc:sldMk cId="160618068" sldId="339"/>
            <ac:spMk id="3" creationId="{29AFE785-C732-43C4-83C2-641533226D23}"/>
          </ac:spMkLst>
        </pc:spChg>
      </pc:sldChg>
      <pc:sldChg chg="addSp modSp new mod">
        <pc:chgData name="Brandt Redd" userId="be8ed540b98adac0" providerId="LiveId" clId="{4908BD8E-C981-4DE2-9786-E888F700E6B8}" dt="2024-06-14T17:29:07.886" v="1256" actId="20577"/>
        <pc:sldMkLst>
          <pc:docMk/>
          <pc:sldMk cId="2155017097" sldId="350"/>
        </pc:sldMkLst>
        <pc:spChg chg="mod">
          <ac:chgData name="Brandt Redd" userId="be8ed540b98adac0" providerId="LiveId" clId="{4908BD8E-C981-4DE2-9786-E888F700E6B8}" dt="2024-06-14T16:37:01.572" v="1030" actId="20577"/>
          <ac:spMkLst>
            <pc:docMk/>
            <pc:sldMk cId="2155017097" sldId="350"/>
            <ac:spMk id="2" creationId="{1030C458-0336-C3BC-15FE-D3A356E5F20A}"/>
          </ac:spMkLst>
        </pc:spChg>
        <pc:spChg chg="mod">
          <ac:chgData name="Brandt Redd" userId="be8ed540b98adac0" providerId="LiveId" clId="{4908BD8E-C981-4DE2-9786-E888F700E6B8}" dt="2024-06-14T17:29:07.886" v="1256" actId="20577"/>
          <ac:spMkLst>
            <pc:docMk/>
            <pc:sldMk cId="2155017097" sldId="350"/>
            <ac:spMk id="3" creationId="{7B6FD1FA-F8E4-1F0E-07BC-81684FD9DC6A}"/>
          </ac:spMkLst>
        </pc:spChg>
        <pc:picChg chg="add mod">
          <ac:chgData name="Brandt Redd" userId="be8ed540b98adac0" providerId="LiveId" clId="{4908BD8E-C981-4DE2-9786-E888F700E6B8}" dt="2024-06-14T17:25:51.521" v="1251" actId="1076"/>
          <ac:picMkLst>
            <pc:docMk/>
            <pc:sldMk cId="2155017097" sldId="350"/>
            <ac:picMk id="5" creationId="{5D95895F-4FB6-E0F5-D7AA-BB34511B994D}"/>
          </ac:picMkLst>
        </pc:picChg>
      </pc:sldChg>
      <pc:sldChg chg="addSp delSp modSp new mod">
        <pc:chgData name="Brandt Redd" userId="be8ed540b98adac0" providerId="LiveId" clId="{4908BD8E-C981-4DE2-9786-E888F700E6B8}" dt="2024-06-14T17:08:57.257" v="1031" actId="6549"/>
        <pc:sldMkLst>
          <pc:docMk/>
          <pc:sldMk cId="4209917452" sldId="351"/>
        </pc:sldMkLst>
        <pc:spChg chg="mod">
          <ac:chgData name="Brandt Redd" userId="be8ed540b98adac0" providerId="LiveId" clId="{4908BD8E-C981-4DE2-9786-E888F700E6B8}" dt="2024-06-14T17:08:57.257" v="1031" actId="6549"/>
          <ac:spMkLst>
            <pc:docMk/>
            <pc:sldMk cId="4209917452" sldId="351"/>
            <ac:spMk id="2" creationId="{FB6E7956-35AA-8079-FC63-3C07FA33800B}"/>
          </ac:spMkLst>
        </pc:spChg>
        <pc:spChg chg="mod">
          <ac:chgData name="Brandt Redd" userId="be8ed540b98adac0" providerId="LiveId" clId="{4908BD8E-C981-4DE2-9786-E888F700E6B8}" dt="2024-06-14T16:35:53.423" v="1008" actId="20577"/>
          <ac:spMkLst>
            <pc:docMk/>
            <pc:sldMk cId="4209917452" sldId="351"/>
            <ac:spMk id="3" creationId="{997BA6D9-D7E9-F0E6-5D6B-C7C3716887FA}"/>
          </ac:spMkLst>
        </pc:spChg>
        <pc:spChg chg="add del">
          <ac:chgData name="Brandt Redd" userId="be8ed540b98adac0" providerId="LiveId" clId="{4908BD8E-C981-4DE2-9786-E888F700E6B8}" dt="2024-06-14T16:30:54.315" v="892" actId="22"/>
          <ac:spMkLst>
            <pc:docMk/>
            <pc:sldMk cId="4209917452" sldId="351"/>
            <ac:spMk id="5" creationId="{84073758-C1CD-E0B2-7489-A4A40D1B1BEF}"/>
          </ac:spMkLst>
        </pc:spChg>
      </pc:sldChg>
      <pc:sldChg chg="addSp modSp new mod">
        <pc:chgData name="Brandt Redd" userId="be8ed540b98adac0" providerId="LiveId" clId="{4908BD8E-C981-4DE2-9786-E888F700E6B8}" dt="2024-06-14T17:45:49.844" v="1805" actId="6549"/>
        <pc:sldMkLst>
          <pc:docMk/>
          <pc:sldMk cId="3087154327" sldId="352"/>
        </pc:sldMkLst>
        <pc:spChg chg="mod">
          <ac:chgData name="Brandt Redd" userId="be8ed540b98adac0" providerId="LiveId" clId="{4908BD8E-C981-4DE2-9786-E888F700E6B8}" dt="2024-06-14T17:45:11.851" v="1743" actId="14100"/>
          <ac:spMkLst>
            <pc:docMk/>
            <pc:sldMk cId="3087154327" sldId="352"/>
            <ac:spMk id="2" creationId="{EDEDC836-60DA-D3AB-810F-E5E017B17630}"/>
          </ac:spMkLst>
        </pc:spChg>
        <pc:spChg chg="mod">
          <ac:chgData name="Brandt Redd" userId="be8ed540b98adac0" providerId="LiveId" clId="{4908BD8E-C981-4DE2-9786-E888F700E6B8}" dt="2024-06-14T17:45:49.844" v="1805" actId="6549"/>
          <ac:spMkLst>
            <pc:docMk/>
            <pc:sldMk cId="3087154327" sldId="352"/>
            <ac:spMk id="3" creationId="{3563704F-DBB8-178A-9770-CD0AEADC74A7}"/>
          </ac:spMkLst>
        </pc:spChg>
        <pc:picChg chg="add mod">
          <ac:chgData name="Brandt Redd" userId="be8ed540b98adac0" providerId="LiveId" clId="{4908BD8E-C981-4DE2-9786-E888F700E6B8}" dt="2024-06-14T17:10:50.023" v="1099" actId="14100"/>
          <ac:picMkLst>
            <pc:docMk/>
            <pc:sldMk cId="3087154327" sldId="352"/>
            <ac:picMk id="5" creationId="{0AF4928F-FD0E-3BD0-1E58-DDCBF66C7876}"/>
          </ac:picMkLst>
        </pc:picChg>
      </pc:sldChg>
      <pc:sldChg chg="modSp new del mod">
        <pc:chgData name="Brandt Redd" userId="be8ed540b98adac0" providerId="LiveId" clId="{4908BD8E-C981-4DE2-9786-E888F700E6B8}" dt="2024-06-14T17:33:56.218" v="1340" actId="47"/>
        <pc:sldMkLst>
          <pc:docMk/>
          <pc:sldMk cId="2276101728" sldId="353"/>
        </pc:sldMkLst>
        <pc:spChg chg="mod">
          <ac:chgData name="Brandt Redd" userId="be8ed540b98adac0" providerId="LiveId" clId="{4908BD8E-C981-4DE2-9786-E888F700E6B8}" dt="2024-06-14T17:21:49.585" v="1138" actId="20577"/>
          <ac:spMkLst>
            <pc:docMk/>
            <pc:sldMk cId="2276101728" sldId="353"/>
            <ac:spMk id="2" creationId="{364BAE3B-A095-D33A-C59A-558A48CF7C2C}"/>
          </ac:spMkLst>
        </pc:spChg>
        <pc:spChg chg="mod">
          <ac:chgData name="Brandt Redd" userId="be8ed540b98adac0" providerId="LiveId" clId="{4908BD8E-C981-4DE2-9786-E888F700E6B8}" dt="2024-06-14T17:22:25.882" v="1193" actId="20577"/>
          <ac:spMkLst>
            <pc:docMk/>
            <pc:sldMk cId="2276101728" sldId="353"/>
            <ac:spMk id="3" creationId="{F2186166-7A80-68CF-8824-44AD373111E6}"/>
          </ac:spMkLst>
        </pc:spChg>
      </pc:sldChg>
      <pc:sldChg chg="addSp modSp new mod">
        <pc:chgData name="Brandt Redd" userId="be8ed540b98adac0" providerId="LiveId" clId="{4908BD8E-C981-4DE2-9786-E888F700E6B8}" dt="2024-06-14T17:42:26.291" v="1720" actId="20577"/>
        <pc:sldMkLst>
          <pc:docMk/>
          <pc:sldMk cId="2631611342" sldId="353"/>
        </pc:sldMkLst>
        <pc:spChg chg="mod">
          <ac:chgData name="Brandt Redd" userId="be8ed540b98adac0" providerId="LiveId" clId="{4908BD8E-C981-4DE2-9786-E888F700E6B8}" dt="2024-06-14T17:37:34.305" v="1350" actId="20577"/>
          <ac:spMkLst>
            <pc:docMk/>
            <pc:sldMk cId="2631611342" sldId="353"/>
            <ac:spMk id="2" creationId="{566807A2-CE17-8D0D-588B-ECBE17B8E3B6}"/>
          </ac:spMkLst>
        </pc:spChg>
        <pc:spChg chg="mod">
          <ac:chgData name="Brandt Redd" userId="be8ed540b98adac0" providerId="LiveId" clId="{4908BD8E-C981-4DE2-9786-E888F700E6B8}" dt="2024-06-14T17:42:26.291" v="1720" actId="20577"/>
          <ac:spMkLst>
            <pc:docMk/>
            <pc:sldMk cId="2631611342" sldId="353"/>
            <ac:spMk id="3" creationId="{DF743A43-5BEC-E33A-507E-927002ACD10F}"/>
          </ac:spMkLst>
        </pc:spChg>
        <pc:spChg chg="add mod">
          <ac:chgData name="Brandt Redd" userId="be8ed540b98adac0" providerId="LiveId" clId="{4908BD8E-C981-4DE2-9786-E888F700E6B8}" dt="2024-06-14T17:41:10.044" v="1710" actId="1076"/>
          <ac:spMkLst>
            <pc:docMk/>
            <pc:sldMk cId="2631611342" sldId="353"/>
            <ac:spMk id="4" creationId="{9B939C3C-996D-659F-0385-C0AB70EA4500}"/>
          </ac:spMkLst>
        </pc:spChg>
        <pc:picChg chg="add mod">
          <ac:chgData name="Brandt Redd" userId="be8ed540b98adac0" providerId="LiveId" clId="{4908BD8E-C981-4DE2-9786-E888F700E6B8}" dt="2024-06-14T17:41:10.044" v="1710" actId="1076"/>
          <ac:picMkLst>
            <pc:docMk/>
            <pc:sldMk cId="2631611342" sldId="353"/>
            <ac:picMk id="1026" creationId="{D1B79AFD-9633-5F79-6A6B-DC99C35F6D22}"/>
          </ac:picMkLst>
        </pc:picChg>
        <pc:picChg chg="add mod">
          <ac:chgData name="Brandt Redd" userId="be8ed540b98adac0" providerId="LiveId" clId="{4908BD8E-C981-4DE2-9786-E888F700E6B8}" dt="2024-06-14T17:42:11.658" v="1719" actId="732"/>
          <ac:picMkLst>
            <pc:docMk/>
            <pc:sldMk cId="2631611342" sldId="353"/>
            <ac:picMk id="1028" creationId="{D49CF179-5C01-C8BE-B729-7399B95B80CE}"/>
          </ac:picMkLst>
        </pc:picChg>
      </pc:sldChg>
      <pc:sldChg chg="addSp modSp new mod">
        <pc:chgData name="Brandt Redd" userId="be8ed540b98adac0" providerId="LiveId" clId="{4908BD8E-C981-4DE2-9786-E888F700E6B8}" dt="2024-06-14T19:08:07.097" v="2139" actId="1076"/>
        <pc:sldMkLst>
          <pc:docMk/>
          <pc:sldMk cId="1560403090" sldId="354"/>
        </pc:sldMkLst>
        <pc:spChg chg="mod">
          <ac:chgData name="Brandt Redd" userId="be8ed540b98adac0" providerId="LiveId" clId="{4908BD8E-C981-4DE2-9786-E888F700E6B8}" dt="2024-06-14T19:02:54.385" v="2124" actId="20577"/>
          <ac:spMkLst>
            <pc:docMk/>
            <pc:sldMk cId="1560403090" sldId="354"/>
            <ac:spMk id="2" creationId="{9BA036C2-EF7C-0D3A-ECE5-3536A2658DA1}"/>
          </ac:spMkLst>
        </pc:spChg>
        <pc:spChg chg="mod">
          <ac:chgData name="Brandt Redd" userId="be8ed540b98adac0" providerId="LiveId" clId="{4908BD8E-C981-4DE2-9786-E888F700E6B8}" dt="2024-06-14T19:02:48.213" v="2117"/>
          <ac:spMkLst>
            <pc:docMk/>
            <pc:sldMk cId="1560403090" sldId="354"/>
            <ac:spMk id="3" creationId="{7FFC7A8C-32B6-900F-36C4-034B65014DB6}"/>
          </ac:spMkLst>
        </pc:spChg>
        <pc:picChg chg="add mod">
          <ac:chgData name="Brandt Redd" userId="be8ed540b98adac0" providerId="LiveId" clId="{4908BD8E-C981-4DE2-9786-E888F700E6B8}" dt="2024-06-14T19:08:07.097" v="2139" actId="1076"/>
          <ac:picMkLst>
            <pc:docMk/>
            <pc:sldMk cId="1560403090" sldId="354"/>
            <ac:picMk id="3074" creationId="{860F0A92-7706-55A3-9EFA-EA1BFA8B8B78}"/>
          </ac:picMkLst>
        </pc:picChg>
      </pc:sldChg>
    </pc:docChg>
  </pc:docChgLst>
  <pc:docChgLst>
    <pc:chgData name="Brandt Redd" userId="be8ed540b98adac0" providerId="LiveId" clId="{B7955668-4D5E-4808-9A33-038C21DE15E6}"/>
    <pc:docChg chg="undo redo custSel addSld delSld modSld sldOrd">
      <pc:chgData name="Brandt Redd" userId="be8ed540b98adac0" providerId="LiveId" clId="{B7955668-4D5E-4808-9A33-038C21DE15E6}" dt="2023-12-13T05:01:55.431" v="503" actId="47"/>
      <pc:docMkLst>
        <pc:docMk/>
      </pc:docMkLst>
      <pc:sldChg chg="ord">
        <pc:chgData name="Brandt Redd" userId="be8ed540b98adac0" providerId="LiveId" clId="{B7955668-4D5E-4808-9A33-038C21DE15E6}" dt="2023-12-11T01:27:40.310" v="200"/>
        <pc:sldMkLst>
          <pc:docMk/>
          <pc:sldMk cId="0" sldId="324"/>
        </pc:sldMkLst>
      </pc:sldChg>
      <pc:sldChg chg="add del">
        <pc:chgData name="Brandt Redd" userId="be8ed540b98adac0" providerId="LiveId" clId="{B7955668-4D5E-4808-9A33-038C21DE15E6}" dt="2023-12-13T05:01:55.431" v="503" actId="47"/>
        <pc:sldMkLst>
          <pc:docMk/>
          <pc:sldMk cId="0" sldId="326"/>
        </pc:sldMkLst>
      </pc:sldChg>
      <pc:sldChg chg="add del">
        <pc:chgData name="Brandt Redd" userId="be8ed540b98adac0" providerId="LiveId" clId="{B7955668-4D5E-4808-9A33-038C21DE15E6}" dt="2023-12-13T05:01:55.431" v="503" actId="47"/>
        <pc:sldMkLst>
          <pc:docMk/>
          <pc:sldMk cId="0" sldId="327"/>
        </pc:sldMkLst>
      </pc:sldChg>
      <pc:sldChg chg="modSp mod">
        <pc:chgData name="Brandt Redd" userId="be8ed540b98adac0" providerId="LiveId" clId="{B7955668-4D5E-4808-9A33-038C21DE15E6}" dt="2023-12-11T01:27:15.065" v="190" actId="21"/>
        <pc:sldMkLst>
          <pc:docMk/>
          <pc:sldMk cId="0" sldId="329"/>
        </pc:sldMkLst>
        <pc:spChg chg="mod">
          <ac:chgData name="Brandt Redd" userId="be8ed540b98adac0" providerId="LiveId" clId="{B7955668-4D5E-4808-9A33-038C21DE15E6}" dt="2023-12-11T01:25:03.229" v="8" actId="20577"/>
          <ac:spMkLst>
            <pc:docMk/>
            <pc:sldMk cId="0" sldId="329"/>
            <ac:spMk id="32769" creationId="{2873BA61-2667-4BC7-A481-DABFAAD1C6A4}"/>
          </ac:spMkLst>
        </pc:spChg>
        <pc:spChg chg="mod">
          <ac:chgData name="Brandt Redd" userId="be8ed540b98adac0" providerId="LiveId" clId="{B7955668-4D5E-4808-9A33-038C21DE15E6}" dt="2023-12-11T01:27:15.065" v="190" actId="21"/>
          <ac:spMkLst>
            <pc:docMk/>
            <pc:sldMk cId="0" sldId="329"/>
            <ac:spMk id="32770" creationId="{06F8DEA1-6B6A-4E72-9CD8-EB68451DC686}"/>
          </ac:spMkLst>
        </pc:spChg>
      </pc:sldChg>
      <pc:sldChg chg="modSp mod">
        <pc:chgData name="Brandt Redd" userId="be8ed540b98adac0" providerId="LiveId" clId="{B7955668-4D5E-4808-9A33-038C21DE15E6}" dt="2023-12-11T01:11:38.205" v="1"/>
        <pc:sldMkLst>
          <pc:docMk/>
          <pc:sldMk cId="993278129" sldId="340"/>
        </pc:sldMkLst>
        <pc:spChg chg="mod">
          <ac:chgData name="Brandt Redd" userId="be8ed540b98adac0" providerId="LiveId" clId="{B7955668-4D5E-4808-9A33-038C21DE15E6}" dt="2023-12-11T01:11:38.205" v="1"/>
          <ac:spMkLst>
            <pc:docMk/>
            <pc:sldMk cId="993278129" sldId="340"/>
            <ac:spMk id="3" creationId="{B40D3CF0-CF7A-45BD-9C46-60BB385248C0}"/>
          </ac:spMkLst>
        </pc:spChg>
      </pc:sldChg>
      <pc:sldChg chg="del ord">
        <pc:chgData name="Brandt Redd" userId="be8ed540b98adac0" providerId="LiveId" clId="{B7955668-4D5E-4808-9A33-038C21DE15E6}" dt="2023-12-11T01:37:49.666" v="426" actId="47"/>
        <pc:sldMkLst>
          <pc:docMk/>
          <pc:sldMk cId="526612707" sldId="343"/>
        </pc:sldMkLst>
      </pc:sldChg>
      <pc:sldChg chg="modSp new mod">
        <pc:chgData name="Brandt Redd" userId="be8ed540b98adac0" providerId="LiveId" clId="{B7955668-4D5E-4808-9A33-038C21DE15E6}" dt="2023-12-11T01:29:03.790" v="326" actId="20577"/>
        <pc:sldMkLst>
          <pc:docMk/>
          <pc:sldMk cId="4085794998" sldId="345"/>
        </pc:sldMkLst>
        <pc:spChg chg="mod">
          <ac:chgData name="Brandt Redd" userId="be8ed540b98adac0" providerId="LiveId" clId="{B7955668-4D5E-4808-9A33-038C21DE15E6}" dt="2023-12-11T01:27:31.673" v="197" actId="20577"/>
          <ac:spMkLst>
            <pc:docMk/>
            <pc:sldMk cId="4085794998" sldId="345"/>
            <ac:spMk id="2" creationId="{D6557A1C-E091-90D8-A219-65C24E7AAF59}"/>
          </ac:spMkLst>
        </pc:spChg>
        <pc:spChg chg="mod">
          <ac:chgData name="Brandt Redd" userId="be8ed540b98adac0" providerId="LiveId" clId="{B7955668-4D5E-4808-9A33-038C21DE15E6}" dt="2023-12-11T01:29:03.790" v="326" actId="20577"/>
          <ac:spMkLst>
            <pc:docMk/>
            <pc:sldMk cId="4085794998" sldId="345"/>
            <ac:spMk id="3" creationId="{62D38B4C-1D98-A4D7-8AF1-7C8007256399}"/>
          </ac:spMkLst>
        </pc:spChg>
      </pc:sldChg>
      <pc:sldChg chg="addSp delSp modSp new mod">
        <pc:chgData name="Brandt Redd" userId="be8ed540b98adac0" providerId="LiveId" clId="{B7955668-4D5E-4808-9A33-038C21DE15E6}" dt="2023-12-11T01:30:57.835" v="387" actId="121"/>
        <pc:sldMkLst>
          <pc:docMk/>
          <pc:sldMk cId="323834655" sldId="346"/>
        </pc:sldMkLst>
        <pc:spChg chg="mod">
          <ac:chgData name="Brandt Redd" userId="be8ed540b98adac0" providerId="LiveId" clId="{B7955668-4D5E-4808-9A33-038C21DE15E6}" dt="2023-12-11T01:30:25.605" v="345" actId="14100"/>
          <ac:spMkLst>
            <pc:docMk/>
            <pc:sldMk cId="323834655" sldId="346"/>
            <ac:spMk id="2" creationId="{947CB87A-6F4B-6D40-451B-471D1E7BB272}"/>
          </ac:spMkLst>
        </pc:spChg>
        <pc:spChg chg="del">
          <ac:chgData name="Brandt Redd" userId="be8ed540b98adac0" providerId="LiveId" clId="{B7955668-4D5E-4808-9A33-038C21DE15E6}" dt="2023-12-11T01:30:07.255" v="339" actId="22"/>
          <ac:spMkLst>
            <pc:docMk/>
            <pc:sldMk cId="323834655" sldId="346"/>
            <ac:spMk id="3" creationId="{5DF120D9-A32A-65CC-647C-0B95D7E11D11}"/>
          </ac:spMkLst>
        </pc:spChg>
        <pc:spChg chg="add mod">
          <ac:chgData name="Brandt Redd" userId="be8ed540b98adac0" providerId="LiveId" clId="{B7955668-4D5E-4808-9A33-038C21DE15E6}" dt="2023-12-11T01:30:57.835" v="387" actId="121"/>
          <ac:spMkLst>
            <pc:docMk/>
            <pc:sldMk cId="323834655" sldId="346"/>
            <ac:spMk id="6" creationId="{874529F7-C067-A5A7-B03E-2706FAB0DFFC}"/>
          </ac:spMkLst>
        </pc:spChg>
        <pc:picChg chg="add mod ord">
          <ac:chgData name="Brandt Redd" userId="be8ed540b98adac0" providerId="LiveId" clId="{B7955668-4D5E-4808-9A33-038C21DE15E6}" dt="2023-12-11T01:30:27.430" v="346" actId="1076"/>
          <ac:picMkLst>
            <pc:docMk/>
            <pc:sldMk cId="323834655" sldId="346"/>
            <ac:picMk id="5" creationId="{F7BD4706-C75D-5619-B171-354C946B8E1B}"/>
          </ac:picMkLst>
        </pc:picChg>
      </pc:sldChg>
      <pc:sldChg chg="modSp new mod">
        <pc:chgData name="Brandt Redd" userId="be8ed540b98adac0" providerId="LiveId" clId="{B7955668-4D5E-4808-9A33-038C21DE15E6}" dt="2023-12-11T22:14:55.338" v="429" actId="20577"/>
        <pc:sldMkLst>
          <pc:docMk/>
          <pc:sldMk cId="3718747340" sldId="347"/>
        </pc:sldMkLst>
        <pc:spChg chg="mod">
          <ac:chgData name="Brandt Redd" userId="be8ed540b98adac0" providerId="LiveId" clId="{B7955668-4D5E-4808-9A33-038C21DE15E6}" dt="2023-12-11T22:14:55.338" v="429" actId="20577"/>
          <ac:spMkLst>
            <pc:docMk/>
            <pc:sldMk cId="3718747340" sldId="347"/>
            <ac:spMk id="2" creationId="{E51CD71B-1A21-C21D-8506-34D2A6E54BF0}"/>
          </ac:spMkLst>
        </pc:spChg>
        <pc:spChg chg="mod">
          <ac:chgData name="Brandt Redd" userId="be8ed540b98adac0" providerId="LiveId" clId="{B7955668-4D5E-4808-9A33-038C21DE15E6}" dt="2023-12-11T01:36:39.621" v="411" actId="403"/>
          <ac:spMkLst>
            <pc:docMk/>
            <pc:sldMk cId="3718747340" sldId="347"/>
            <ac:spMk id="3" creationId="{588DAC3D-78EE-B5B1-D509-6CE61AFE8EDA}"/>
          </ac:spMkLst>
        </pc:spChg>
      </pc:sldChg>
      <pc:sldChg chg="modSp new mod">
        <pc:chgData name="Brandt Redd" userId="be8ed540b98adac0" providerId="LiveId" clId="{B7955668-4D5E-4808-9A33-038C21DE15E6}" dt="2023-12-11T01:37:06.606" v="425"/>
        <pc:sldMkLst>
          <pc:docMk/>
          <pc:sldMk cId="1388268700" sldId="348"/>
        </pc:sldMkLst>
        <pc:spChg chg="mod">
          <ac:chgData name="Brandt Redd" userId="be8ed540b98adac0" providerId="LiveId" clId="{B7955668-4D5E-4808-9A33-038C21DE15E6}" dt="2023-12-11T01:36:50.547" v="423" actId="20577"/>
          <ac:spMkLst>
            <pc:docMk/>
            <pc:sldMk cId="1388268700" sldId="348"/>
            <ac:spMk id="2" creationId="{FDBBF929-8378-0B32-9231-8E9B54AAC17C}"/>
          </ac:spMkLst>
        </pc:spChg>
        <pc:spChg chg="mod">
          <ac:chgData name="Brandt Redd" userId="be8ed540b98adac0" providerId="LiveId" clId="{B7955668-4D5E-4808-9A33-038C21DE15E6}" dt="2023-12-11T01:37:06.606" v="425"/>
          <ac:spMkLst>
            <pc:docMk/>
            <pc:sldMk cId="1388268700" sldId="348"/>
            <ac:spMk id="3" creationId="{9712E30D-E561-4AA5-F87A-F39E2F972611}"/>
          </ac:spMkLst>
        </pc:spChg>
      </pc:sldChg>
      <pc:sldChg chg="addSp delSp modSp new add del mod modClrScheme chgLayout">
        <pc:chgData name="Brandt Redd" userId="be8ed540b98adac0" providerId="LiveId" clId="{B7955668-4D5E-4808-9A33-038C21DE15E6}" dt="2023-12-13T05:01:52.120" v="502" actId="47"/>
        <pc:sldMkLst>
          <pc:docMk/>
          <pc:sldMk cId="1594870115" sldId="349"/>
        </pc:sldMkLst>
        <pc:spChg chg="del mod ord">
          <ac:chgData name="Brandt Redd" userId="be8ed540b98adac0" providerId="LiveId" clId="{B7955668-4D5E-4808-9A33-038C21DE15E6}" dt="2023-12-13T04:58:27.287" v="431" actId="700"/>
          <ac:spMkLst>
            <pc:docMk/>
            <pc:sldMk cId="1594870115" sldId="349"/>
            <ac:spMk id="2" creationId="{407A2F0C-4365-737E-0B1E-0D42ED4CBC16}"/>
          </ac:spMkLst>
        </pc:spChg>
        <pc:spChg chg="del mod ord">
          <ac:chgData name="Brandt Redd" userId="be8ed540b98adac0" providerId="LiveId" clId="{B7955668-4D5E-4808-9A33-038C21DE15E6}" dt="2023-12-13T04:58:27.287" v="431" actId="700"/>
          <ac:spMkLst>
            <pc:docMk/>
            <pc:sldMk cId="1594870115" sldId="349"/>
            <ac:spMk id="3" creationId="{168C0D8D-1CDF-CF35-D309-CB65B18F09E9}"/>
          </ac:spMkLst>
        </pc:spChg>
        <pc:spChg chg="add mod ord">
          <ac:chgData name="Brandt Redd" userId="be8ed540b98adac0" providerId="LiveId" clId="{B7955668-4D5E-4808-9A33-038C21DE15E6}" dt="2023-12-13T04:58:40.351" v="451" actId="14100"/>
          <ac:spMkLst>
            <pc:docMk/>
            <pc:sldMk cId="1594870115" sldId="349"/>
            <ac:spMk id="4" creationId="{CEBC84C3-BAF0-227C-0E5D-00B0F2DF3EFC}"/>
          </ac:spMkLst>
        </pc:spChg>
        <pc:spChg chg="add mod ord">
          <ac:chgData name="Brandt Redd" userId="be8ed540b98adac0" providerId="LiveId" clId="{B7955668-4D5E-4808-9A33-038C21DE15E6}" dt="2023-12-13T04:58:55.978" v="461" actId="20577"/>
          <ac:spMkLst>
            <pc:docMk/>
            <pc:sldMk cId="1594870115" sldId="349"/>
            <ac:spMk id="5" creationId="{8629BB97-C783-24B9-7282-12CF246657BD}"/>
          </ac:spMkLst>
        </pc:spChg>
        <pc:spChg chg="add mod ord">
          <ac:chgData name="Brandt Redd" userId="be8ed540b98adac0" providerId="LiveId" clId="{B7955668-4D5E-4808-9A33-038C21DE15E6}" dt="2023-12-13T05:01:24.697" v="500" actId="6549"/>
          <ac:spMkLst>
            <pc:docMk/>
            <pc:sldMk cId="1594870115" sldId="349"/>
            <ac:spMk id="6" creationId="{FE27ACB8-E8AA-39BF-CC1F-F79CF09C25AF}"/>
          </ac:spMkLst>
        </pc:spChg>
        <pc:spChg chg="add mod ord">
          <ac:chgData name="Brandt Redd" userId="be8ed540b98adac0" providerId="LiveId" clId="{B7955668-4D5E-4808-9A33-038C21DE15E6}" dt="2023-12-13T04:59:00.817" v="477" actId="20577"/>
          <ac:spMkLst>
            <pc:docMk/>
            <pc:sldMk cId="1594870115" sldId="349"/>
            <ac:spMk id="7" creationId="{1518AF23-D324-D132-458D-9EB108236C5F}"/>
          </ac:spMkLst>
        </pc:spChg>
        <pc:spChg chg="add mod ord">
          <ac:chgData name="Brandt Redd" userId="be8ed540b98adac0" providerId="LiveId" clId="{B7955668-4D5E-4808-9A33-038C21DE15E6}" dt="2023-12-13T05:00:02.058" v="489"/>
          <ac:spMkLst>
            <pc:docMk/>
            <pc:sldMk cId="1594870115" sldId="349"/>
            <ac:spMk id="8" creationId="{A6F53129-82D0-78F3-FE44-DF53B1ABEED7}"/>
          </ac:spMkLst>
        </pc:spChg>
      </pc:sldChg>
    </pc:docChg>
  </pc:docChgLst>
  <pc:docChgLst>
    <pc:chgData name="Brandt Redd" userId="be8ed540b98adac0" providerId="LiveId" clId="{FD2362DB-237D-4A49-B9C3-7501A7C60E67}"/>
    <pc:docChg chg="delSld modSld">
      <pc:chgData name="Brandt Redd" userId="be8ed540b98adac0" providerId="LiveId" clId="{FD2362DB-237D-4A49-B9C3-7501A7C60E67}" dt="2024-04-15T13:58:17.446" v="1" actId="47"/>
      <pc:docMkLst>
        <pc:docMk/>
      </pc:docMkLst>
      <pc:sldChg chg="del">
        <pc:chgData name="Brandt Redd" userId="be8ed540b98adac0" providerId="LiveId" clId="{FD2362DB-237D-4A49-B9C3-7501A7C60E67}" dt="2024-04-15T13:58:17.446" v="1" actId="47"/>
        <pc:sldMkLst>
          <pc:docMk/>
          <pc:sldMk cId="0" sldId="334"/>
        </pc:sldMkLst>
      </pc:sldChg>
      <pc:sldChg chg="modSp mod">
        <pc:chgData name="Brandt Redd" userId="be8ed540b98adac0" providerId="LiveId" clId="{FD2362DB-237D-4A49-B9C3-7501A7C60E67}" dt="2024-04-13T20:38:55.200" v="0" actId="12"/>
        <pc:sldMkLst>
          <pc:docMk/>
          <pc:sldMk cId="1388268700" sldId="348"/>
        </pc:sldMkLst>
        <pc:spChg chg="mod">
          <ac:chgData name="Brandt Redd" userId="be8ed540b98adac0" providerId="LiveId" clId="{FD2362DB-237D-4A49-B9C3-7501A7C60E67}" dt="2024-04-13T20:38:55.200" v="0" actId="12"/>
          <ac:spMkLst>
            <pc:docMk/>
            <pc:sldMk cId="1388268700" sldId="348"/>
            <ac:spMk id="3" creationId="{9712E30D-E561-4AA5-F87A-F39E2F97261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E21ECE-B63C-3944-A334-978BF1FF9C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98A6D-CE1A-0A43-B6F6-AE77714858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fld id="{33E8D5C1-ADD4-4FF5-96D1-67C47E42B85E}" type="datetimeFigureOut">
              <a:rPr lang="en-US"/>
              <a:pPr>
                <a:defRPr/>
              </a:pPr>
              <a:t>2024-06-14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7341A-7A44-5342-964F-EEBCCE780F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36E4-6337-DF4B-B196-613683214E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3311338-ACDE-491E-A21E-28A895E0E5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1B6086F-8DB4-2F4D-BD66-578963B489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6994F7B-C745-A14B-86D0-554A5B1D936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B1A84C21-B1AA-467C-BE9D-7CF8F31AA77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5376A95C-161D-EF40-B649-A939DB171C4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2C23C908-CDA7-A74A-B4EE-A8B28D9AC7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DFEADAAC-78CD-CD45-900D-513F8E4419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15573824-2E24-4F98-815F-36D26580F38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8ltmwWVuQs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ss-tricks.com/lodge/sv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w3.org/TR/SVG2/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rtc-experiment.com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webrtc-experiment.com/Pluginfree-Screen-Sharing/#22904705489672494" TargetMode="External"/><Relationship Id="rId4" Type="http://schemas.openxmlformats.org/officeDocument/2006/relationships/hyperlink" Target="https://www.cubeslam.com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hreejs.org/examples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puweb.github.io/gpuweb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css-2018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73824-2E24-4F98-815F-36D26580F38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06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9430BB79-90E8-4D32-B876-A6BCCA684B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13B2EFA4-73B6-44A1-949A-0369E151E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Many parties are involved in advancing web technologies including browser vendors (and the companies/organizations who support them), companies who sell (or plan to sell) web-related content or services that requires new advances (e.g., games), standards bodies such as the W3 who oversee “open” web-related standards, and individuals with a passion.</a:t>
            </a:r>
          </a:p>
          <a:p>
            <a:endParaRPr lang="en-US" altLang="en-US"/>
          </a:p>
          <a:p>
            <a:r>
              <a:rPr lang="en-US" altLang="en-US"/>
              <a:t>New technologies are created to solve a problem, or to realize an untapped potential. For example, jQuery was created to make Javascript easier, particularly for people new to web development. People and organizations innovate in order to make money, make a name for themselves, and/or out of a passion for the topic.</a:t>
            </a:r>
          </a:p>
          <a:p>
            <a:endParaRPr lang="en-US" altLang="en-US"/>
          </a:p>
          <a:p>
            <a:r>
              <a:rPr lang="en-US" altLang="en-US"/>
              <a:t>Note that new technologies typically rely on old technologies, though they may replace some as well. Think of a web framework (e.g., Bootstrap), which may rely on common web libraries (e.g., jQuery), which rely on languages (e.g., Javascript), which rely on other existing technologies such as IP/TCP and the rest of the network stack, browsers, etc.</a:t>
            </a: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82031D0A-2AD1-4955-8AA9-CF08F2BE1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4AA2341-DFA0-4720-B75A-0D2CA67CA88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68795D44-6E95-4980-BCDE-77486540C1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087BEADE-EF50-488C-8B9E-C1C47F2FC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An example of an open versus closed standards approach is playing out in 2018 in the “container” space. See https://www.opencontainers.org/ to watch it unfold. The IoT space is also going forward. Another area is platforms for developing mobile apps (e.g., open standards and tools vs., say Apple’s closed tools). See </a:t>
            </a:r>
            <a:r>
              <a:rPr lang="en-US" altLang="en-US" dirty="0">
                <a:hlinkClick r:id="rId3"/>
              </a:rPr>
              <a:t>https://www.youtube.com/watch?v=r8ltmwWVuQs</a:t>
            </a:r>
            <a:r>
              <a:rPr lang="en-US" altLang="en-US" dirty="0"/>
              <a:t> for a fun video about OCI.</a:t>
            </a:r>
          </a:p>
          <a:p>
            <a:endParaRPr lang="en-US" altLang="en-US" dirty="0"/>
          </a:p>
          <a:p>
            <a:r>
              <a:rPr lang="en-US" altLang="en-US" dirty="0"/>
              <a:t>AV1 is a video coding format created to compete with H.264/MP4. The creators and known patent holders have granted a royalty-free license for its use. This is in contrast to H.264 (AVC) which requires a patent license for implementation. However, implementers worry that there might be an applicable patent that has not been identified. The project started in 2016, standard was established in 2018, a reference encoder was released in 2019. However, hardware assist of the sort available for H.264 is lacking.</a:t>
            </a:r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9807D997-516E-41B6-AC07-CB8F641ED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B44F32-E49E-462A-A166-59C2680BE781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73824-2E24-4F98-815F-36D26580F38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8664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366724E7-8BB5-4FA3-B4FE-7FC15DD53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C93F1F21-5639-42C7-8C34-5748BA142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See http://platform.html5.org/ for more…</a:t>
            </a:r>
          </a:p>
          <a:p>
            <a:r>
              <a:rPr lang="en-US" altLang="en-US"/>
              <a:t>Makes sure you look at what is currently supported using sites like caniuse (linked to on platform.html5.org </a:t>
            </a:r>
            <a:r>
              <a:rPr lang="mr-IN" altLang="en-US">
                <a:ea typeface="Mangal" panose="02040503050203030202" pitchFamily="18" charset="0"/>
              </a:rPr>
              <a:t>–</a:t>
            </a:r>
            <a:r>
              <a:rPr lang="en-US" altLang="en-US"/>
              <a:t> see legend at bottom).</a:t>
            </a: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12B42B0A-F070-4B16-873C-675C097D8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F10BC9F-5889-4281-9E97-E34AE4664BA8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44246C2D-6CE3-4FDA-9386-4EFF69B666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01C6D2E2-4862-4697-80FC-A064E5D59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Because SVG is vector-based it scales nicely (e.g., you can print off files with SVG graphics and they’ll look good, not pixelated)</a:t>
            </a:r>
          </a:p>
          <a:p>
            <a:r>
              <a:rPr lang="en-US" altLang="en-US" dirty="0"/>
              <a:t>See </a:t>
            </a:r>
            <a:r>
              <a:rPr lang="en-US" altLang="en-US" dirty="0">
                <a:hlinkClick r:id="rId3"/>
              </a:rPr>
              <a:t>https://css-tricks.com/lodge/svg/</a:t>
            </a:r>
            <a:r>
              <a:rPr lang="en-US" altLang="en-US" dirty="0"/>
              <a:t> for lots of videos on SVG</a:t>
            </a:r>
          </a:p>
          <a:p>
            <a:endParaRPr lang="en-US" altLang="en-US" dirty="0"/>
          </a:p>
          <a:p>
            <a:r>
              <a:rPr lang="en-US" altLang="en-US" dirty="0"/>
              <a:t>There is an SVG 2 standard that is in the process of getting created: </a:t>
            </a:r>
            <a:r>
              <a:rPr lang="en-US" altLang="en-US" dirty="0">
                <a:hlinkClick r:id="rId4"/>
              </a:rPr>
              <a:t>https://www.w3.org/TR/SVG2/</a:t>
            </a:r>
            <a:endParaRPr lang="en-US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E0CDDC19-B872-41B8-BD08-A57B5FB1F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B74705C-48D1-4EEE-9201-BCE3F5046D68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A76AF62-8661-453B-93B6-BB9F426492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417FC26-8AC5-4B8B-80EF-6D0B4FAEC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See http://raphaeljs.com/ and http://d3js.org/ for two examples of SVG-based visualizations.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4CD731A-673B-4C2B-A3C7-6977F29C9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101010E-43C1-41EF-BB49-64BF4277D751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73824-2E24-4F98-815F-36D26580F389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922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9856AA5E-7C52-4980-AE5F-BE56B405F0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02903A0-E7DA-4820-933E-26A8055EF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See </a:t>
            </a:r>
            <a:r>
              <a:rPr lang="en-US" altLang="en-US" dirty="0">
                <a:hlinkClick r:id="rId3"/>
              </a:rPr>
              <a:t>https://www.webrtc-experiment.com/</a:t>
            </a:r>
            <a:r>
              <a:rPr lang="en-US" altLang="en-US" dirty="0"/>
              <a:t> for some nice demos.</a:t>
            </a:r>
          </a:p>
          <a:p>
            <a:endParaRPr lang="en-US" altLang="en-US" dirty="0"/>
          </a:p>
          <a:p>
            <a:r>
              <a:rPr lang="en-US" altLang="en-US" dirty="0">
                <a:hlinkClick r:id="rId4"/>
              </a:rPr>
              <a:t>https://www.cubeslam.com/</a:t>
            </a:r>
            <a:endParaRPr lang="en-US" altLang="en-US" dirty="0"/>
          </a:p>
          <a:p>
            <a:r>
              <a:rPr lang="en-US" altLang="en-US" dirty="0"/>
              <a:t>https://www.webrtc-experiment.com/Translator/ </a:t>
            </a:r>
          </a:p>
          <a:p>
            <a:r>
              <a:rPr lang="en-US" altLang="en-US" dirty="0">
                <a:hlinkClick r:id="rId5"/>
              </a:rPr>
              <a:t>https://www.webrtc-experiment.com/Pluginfree-Screen-Sharing/#22904705489672494</a:t>
            </a:r>
            <a:endParaRPr lang="en-US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2833759-6270-4FE9-A1C0-28923D6E38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0582CD-30B3-44BC-B354-6A190098094F}" type="slidenum">
              <a:rPr lang="en-US" altLang="en-US" sz="120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>
            <a:extLst>
              <a:ext uri="{FF2B5EF4-FFF2-40B4-BE49-F238E27FC236}">
                <a16:creationId xmlns:a16="http://schemas.microsoft.com/office/drawing/2014/main" id="{4EF0BA9A-B9AB-47FB-8301-1DC215F1C1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Notes Placeholder 2">
            <a:extLst>
              <a:ext uri="{FF2B5EF4-FFF2-40B4-BE49-F238E27FC236}">
                <a16:creationId xmlns:a16="http://schemas.microsoft.com/office/drawing/2014/main" id="{421DC35A-B4DC-4BA5-941C-9F5E3409C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Visit </a:t>
            </a:r>
            <a:r>
              <a:rPr lang="en-US" altLang="en-US">
                <a:hlinkClick r:id="rId3"/>
              </a:rPr>
              <a:t>https://threejs.org/examples/</a:t>
            </a:r>
            <a:r>
              <a:rPr lang="en-US" altLang="en-US"/>
              <a:t> for examples</a:t>
            </a:r>
          </a:p>
          <a:p>
            <a:endParaRPr lang="en-US" altLang="en-US"/>
          </a:p>
          <a:p>
            <a:r>
              <a:rPr lang="en-US" altLang="en-US"/>
              <a:t>See </a:t>
            </a:r>
            <a:r>
              <a:rPr lang="en-US" altLang="en-US">
                <a:hlinkClick r:id="rId4"/>
              </a:rPr>
              <a:t>https://gpuweb.github.io/gpuweb/</a:t>
            </a:r>
            <a:r>
              <a:rPr lang="en-US" altLang="en-US"/>
              <a:t> for the new WebGPU specification</a:t>
            </a: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8097AF53-CAAB-4A4A-AF8C-3D951FF90A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E2A8A7-3687-4330-AE47-E6F618F50FC0}" type="slidenum">
              <a:rPr lang="en-US" altLang="en-US" sz="120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>
            <a:extLst>
              <a:ext uri="{FF2B5EF4-FFF2-40B4-BE49-F238E27FC236}">
                <a16:creationId xmlns:a16="http://schemas.microsoft.com/office/drawing/2014/main" id="{2CF03DFE-F9A1-4456-9A1B-C293BB889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54DBE0EE-704E-EF43-A60A-A27ABA9E2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dirty="0">
                <a:ea typeface="+mn-ea"/>
              </a:rPr>
              <a:t>See https://</a:t>
            </a:r>
            <a:r>
              <a:rPr lang="en-US" dirty="0" err="1">
                <a:ea typeface="+mn-ea"/>
              </a:rPr>
              <a:t>developer.mozilla.org</a:t>
            </a:r>
            <a:r>
              <a:rPr lang="en-US" dirty="0">
                <a:ea typeface="+mn-ea"/>
              </a:rPr>
              <a:t>/</a:t>
            </a:r>
            <a:r>
              <a:rPr lang="en-US" dirty="0" err="1">
                <a:ea typeface="+mn-ea"/>
              </a:rPr>
              <a:t>en</a:t>
            </a:r>
            <a:r>
              <a:rPr lang="en-US" dirty="0">
                <a:ea typeface="+mn-ea"/>
              </a:rPr>
              <a:t>-US/docs/Web/CSS/CSS3 for an overview of how CSS3 is implemented.</a:t>
            </a:r>
          </a:p>
          <a:p>
            <a:pPr>
              <a:defRPr/>
            </a:pPr>
            <a:r>
              <a:rPr lang="en-US" dirty="0">
                <a:ea typeface="+mn-ea"/>
              </a:rPr>
              <a:t>Latest “snapshot” of CSS was in January 2018 and can be found here: </a:t>
            </a:r>
            <a:r>
              <a:rPr lang="en-US" dirty="0">
                <a:ea typeface="ＭＳ Ｐゴシック" charset="0"/>
                <a:hlinkClick r:id="rId3"/>
              </a:rPr>
              <a:t>https://www.w3.org/TR/css-2018/</a:t>
            </a: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See http://</a:t>
            </a:r>
            <a:r>
              <a:rPr lang="en-US" dirty="0" err="1">
                <a:ea typeface="+mn-ea"/>
              </a:rPr>
              <a:t>codepen.io</a:t>
            </a:r>
            <a:r>
              <a:rPr lang="en-US" dirty="0">
                <a:ea typeface="+mn-ea"/>
              </a:rPr>
              <a:t>/pens/ for people’s projects</a:t>
            </a:r>
            <a:endParaRPr lang="en-US" dirty="0">
              <a:ea typeface="+mn-ea"/>
              <a:sym typeface="Wingdings" pitchFamily="2" charset="2"/>
            </a:endParaRPr>
          </a:p>
          <a:p>
            <a:pPr>
              <a:defRPr/>
            </a:pPr>
            <a:endParaRPr lang="en-US" dirty="0">
              <a:ea typeface="+mn-ea"/>
            </a:endParaRP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98864E8F-E410-4EBE-8711-C07FD3C7D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9411CA6-C94F-4713-B7AA-11DBEAC0FE66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>
            <a:extLst>
              <a:ext uri="{FF2B5EF4-FFF2-40B4-BE49-F238E27FC236}">
                <a16:creationId xmlns:a16="http://schemas.microsoft.com/office/drawing/2014/main" id="{FCC24F34-F6FA-4128-A7C2-C950283051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Notes Placeholder 2">
            <a:extLst>
              <a:ext uri="{FF2B5EF4-FFF2-40B4-BE49-F238E27FC236}">
                <a16:creationId xmlns:a16="http://schemas.microsoft.com/office/drawing/2014/main" id="{9874F12E-C8D6-432E-BD36-ECF45B903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1" name="Slide Number Placeholder 3">
            <a:extLst>
              <a:ext uri="{FF2B5EF4-FFF2-40B4-BE49-F238E27FC236}">
                <a16:creationId xmlns:a16="http://schemas.microsoft.com/office/drawing/2014/main" id="{3D7BC638-9234-47BA-9497-4C962CE733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D124EAA-079B-4D09-B36F-B9D49864DD9F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E588C-7250-4AB4-AB6B-BD15FE77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0605B-DB68-428C-B08C-FA95CBC3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E7F1B-E6A8-41F7-86CA-DEBEA2E6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F5D479-D641-4727-A1FE-97E5938505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13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71D90-6C86-4EEA-8D86-03D6A411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1B409-11FD-45D8-A292-9AEA4365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DF8F1-AA35-4918-A61A-64CA6BA0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8BBE52-3462-40A8-A0E1-597A73285F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13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A4837-86AB-4B51-B77F-4D6F2472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189EB-5745-4F0B-948F-90BB36DA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7AD11-8DB3-4E3F-9BA0-FD9BF980F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C43CB-5709-4529-AC02-BA85B5716D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74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9297C68-B58E-46FC-B0E1-3EDAD930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3D8F09D-B798-4D88-956D-B21676A4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1DBA6E-A103-4C87-9F62-C9CCA787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2F8DC8-08B8-4285-ACD0-3DFBEB8A83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72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37FD827-FF60-4A9A-8CAB-30F89D37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AAA9F5-71C6-4233-8478-7B4E20EB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FE26AC0-A84D-4E93-9C8E-399E25B9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A54BC-83D5-4B04-925F-5A76455411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39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AFD483A-93AA-40AA-B1CE-F8802F4C7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8C44480-6E40-4330-9913-300EA36A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1D045B9-9F71-4DFE-BD7F-C637232C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B0AC3-ACFF-4B27-8928-F167A924FF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80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37C567E-0BF0-459C-A2B7-F0FFD0840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5D868F5-FAE3-4D3E-8EE2-3304C22B4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697FE36-60C0-47BE-83F3-A15C7A7F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369717-5A8B-4851-BD68-43B2B029F9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493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49CDDD7-BA44-466E-88B7-68E83A64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5F8156A-5A8C-4DE6-9A0F-DC7E7F55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CAA959-5E2C-4B10-9256-38828E1B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9A79E1-328A-440E-8EB9-5032BC5139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367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6071AAD-C3C6-4B6E-A67D-99368BDC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CF184E-6692-4595-9F46-17EAC117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AF1B78-3372-4F36-A4A5-EFF0E23E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6D59E-9CA0-4BAD-90C0-DF1EA4F324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67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FFCE6-9F06-46A0-BC1C-6EF39406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1F46E-3C09-4AB4-9870-0DF32606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7C317-09C6-46B6-AE9F-07DE784F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A0D3F-7339-4DA0-9793-DEB2060A7C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14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B51CB-9F20-46B3-891B-C46F11897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5F2D4-07F9-43D2-8172-4598DEE5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4FE96-0DD2-455E-A0A6-D3F0AE7A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B5911-39DB-4810-8179-045C317B34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5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FEA97F4-5499-426F-9D6C-0815E0E8F6F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374FD92-7A27-4B13-A632-9158410877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56FAF-B766-6F45-98B4-EF78E9E5F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9B96-A2BC-164F-B3CB-816E07BB0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9049A-7E1A-B442-99AD-1F8FDD3F9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F5B920C-012A-46A6-B4D7-C49C4726D79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containers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TML5_vide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HTML5_audio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tform.html5.or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raphaeljs.com/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3js.org/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viliusle.github.io/miniPain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hyperlink" Target="http://kineticj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://www.createjs.com/#!/EaselJS" TargetMode="Externa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rtc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ebrtc-experiment.com/" TargetMode="External"/><Relationship Id="rId4" Type="http://schemas.openxmlformats.org/officeDocument/2006/relationships/hyperlink" Target="http://w3c.github.io/webrtc-pc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threejs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://www.babylonjs.com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ebglsamples.org/aquarium/aquarium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olicehost.com/http2-protocol.html" TargetMode="External"/><Relationship Id="rId4" Type="http://schemas.openxmlformats.org/officeDocument/2006/relationships/hyperlink" Target="https://en.wikipedia.org/wiki/HTTP/2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ebassemblygames.com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aniuse.com/" TargetMode="External"/><Relationship Id="rId2" Type="http://schemas.openxmlformats.org/officeDocument/2006/relationships/hyperlink" Target="https://html-now.github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Glossary/Polyfill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web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odepen.io/" TargetMode="External"/><Relationship Id="rId4" Type="http://schemas.openxmlformats.org/officeDocument/2006/relationships/hyperlink" Target="https://developer.mozilla.org/en-US/docs/Web_Development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1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11573-B7ED-465F-A6AF-2AA5AA60D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 dirty="0">
                <a:solidFill>
                  <a:srgbClr val="FFFFFF"/>
                </a:solidFill>
              </a:rPr>
              <a:t>New and Emerging Web Standards</a:t>
            </a:r>
            <a:br>
              <a:rPr lang="en-US" sz="4200" dirty="0">
                <a:solidFill>
                  <a:srgbClr val="FFFFFF"/>
                </a:solidFill>
              </a:rPr>
            </a:br>
            <a:br>
              <a:rPr lang="en-US" sz="4200" dirty="0">
                <a:solidFill>
                  <a:srgbClr val="FFFFFF"/>
                </a:solidFill>
              </a:rPr>
            </a:br>
            <a:r>
              <a:rPr lang="en-US" sz="4200" dirty="0">
                <a:solidFill>
                  <a:srgbClr val="FFFFFF"/>
                </a:solidFill>
              </a:rPr>
              <a:t>IT&amp;C 210B – S37</a:t>
            </a:r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ght bulb on yellow background with sketched light beams and cord">
            <a:extLst>
              <a:ext uri="{FF2B5EF4-FFF2-40B4-BE49-F238E27FC236}">
                <a16:creationId xmlns:a16="http://schemas.microsoft.com/office/drawing/2014/main" id="{E16042C5-6819-4437-A4C6-43EAF42017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26"/>
          <a:stretch/>
        </p:blipFill>
        <p:spPr>
          <a:xfrm>
            <a:off x="20" y="584909"/>
            <a:ext cx="4288957" cy="5509675"/>
          </a:xfrm>
          <a:custGeom>
            <a:avLst/>
            <a:gdLst/>
            <a:ahLst/>
            <a:cxnLst/>
            <a:rect l="l" t="t" r="r" b="b"/>
            <a:pathLst>
              <a:path w="5718636" h="5509675">
                <a:moveTo>
                  <a:pt x="0" y="0"/>
                </a:moveTo>
                <a:lnTo>
                  <a:pt x="2672821" y="0"/>
                </a:lnTo>
                <a:lnTo>
                  <a:pt x="2673116" y="639"/>
                </a:lnTo>
                <a:lnTo>
                  <a:pt x="3175662" y="639"/>
                </a:lnTo>
                <a:lnTo>
                  <a:pt x="5718636" y="5509675"/>
                </a:lnTo>
                <a:lnTo>
                  <a:pt x="502842" y="5509675"/>
                </a:lnTo>
                <a:lnTo>
                  <a:pt x="502842" y="5509036"/>
                </a:lnTo>
                <a:lnTo>
                  <a:pt x="0" y="5509036"/>
                </a:ln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CDB40A-75BB-4498-A20B-59C3984A3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881964" y="585526"/>
            <a:ext cx="6262036" cy="5509038"/>
          </a:xfrm>
          <a:custGeom>
            <a:avLst/>
            <a:gdLst>
              <a:gd name="connsiteX0" fmla="*/ 0 w 8349381"/>
              <a:gd name="connsiteY0" fmla="*/ 0 h 5509038"/>
              <a:gd name="connsiteX1" fmla="*/ 8349381 w 8349381"/>
              <a:gd name="connsiteY1" fmla="*/ 0 h 5509038"/>
              <a:gd name="connsiteX2" fmla="*/ 5806407 w 8349381"/>
              <a:gd name="connsiteY2" fmla="*/ 5509038 h 5509038"/>
              <a:gd name="connsiteX3" fmla="*/ 0 w 8349381"/>
              <a:gd name="connsiteY3" fmla="*/ 5509038 h 5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49381" h="5509038">
                <a:moveTo>
                  <a:pt x="0" y="0"/>
                </a:moveTo>
                <a:lnTo>
                  <a:pt x="8349381" y="0"/>
                </a:lnTo>
                <a:lnTo>
                  <a:pt x="5806407" y="5509038"/>
                </a:lnTo>
                <a:lnTo>
                  <a:pt x="0" y="5509038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95FD32-5620-4155-978F-7F52AC73D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310" y="1408814"/>
            <a:ext cx="4262326" cy="22352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4700" dirty="0">
                <a:solidFill>
                  <a:srgbClr val="FFFFFF"/>
                </a:solidFill>
                <a:ea typeface="+mj-ea"/>
              </a:rPr>
              <a:t>Invention and Standards</a:t>
            </a:r>
          </a:p>
        </p:txBody>
      </p:sp>
    </p:spTree>
    <p:extLst>
      <p:ext uri="{BB962C8B-B14F-4D97-AF65-F5344CB8AC3E}">
        <p14:creationId xmlns:p14="http://schemas.microsoft.com/office/powerpoint/2010/main" val="289998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6CAD3CF1-2025-4214-A545-C390D738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Technological Advances</a:t>
            </a:r>
          </a:p>
        </p:txBody>
      </p:sp>
      <p:sp>
        <p:nvSpPr>
          <p:cNvPr id="4099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585AFA5-01E2-1C4B-86F0-C086B0257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latin typeface="Tahoma" charset="0"/>
                <a:ea typeface="+mn-ea"/>
              </a:rPr>
              <a:t>Many stakeholders develop web technologies 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dirty="0">
                <a:latin typeface="Tahoma" charset="0"/>
                <a:ea typeface="+mn-ea"/>
              </a:rPr>
              <a:t>Browser creators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dirty="0">
                <a:latin typeface="Tahoma" charset="0"/>
                <a:ea typeface="+mn-ea"/>
              </a:rPr>
              <a:t>Companies with a vested interest in the Web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dirty="0">
                <a:latin typeface="Tahoma" charset="0"/>
                <a:ea typeface="+mn-ea"/>
              </a:rPr>
              <a:t>Standards organizations (e.g., W3C)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dirty="0">
                <a:latin typeface="Tahoma" charset="0"/>
                <a:ea typeface="+mn-ea"/>
              </a:rPr>
              <a:t>Individuals with a passion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latin typeface="Tahoma" charset="0"/>
                <a:ea typeface="+mn-ea"/>
              </a:rPr>
              <a:t>New technologies are created to solve a problem or realize untapped potential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latin typeface="Tahoma" charset="0"/>
                <a:ea typeface="+mn-ea"/>
              </a:rPr>
              <a:t>New technologies often build on old ones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endParaRPr lang="en-US" dirty="0">
              <a:latin typeface="Tahoma" charset="0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31E24B53-CF39-442F-AB49-99BC380A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Questions to ask about </a:t>
            </a:r>
            <a:br>
              <a:rPr lang="en-US" altLang="en-US"/>
            </a:br>
            <a:r>
              <a:rPr lang="en-US" altLang="en-US"/>
              <a:t>new technologies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FCE1B9BB-9F24-40F9-BF80-2FC17817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Has someone tried to solve my problem before? (the answer most likely is YES)</a:t>
            </a:r>
          </a:p>
          <a:p>
            <a:r>
              <a:rPr lang="en-US" altLang="en-US" sz="2800" dirty="0"/>
              <a:t>What problem is a technology designed to solve?</a:t>
            </a:r>
          </a:p>
          <a:p>
            <a:r>
              <a:rPr lang="en-US" altLang="en-US" sz="2800" dirty="0"/>
              <a:t>What alternative solutions are there?</a:t>
            </a:r>
          </a:p>
          <a:p>
            <a:r>
              <a:rPr lang="en-US" altLang="en-US" sz="2800" dirty="0"/>
              <a:t>What limitations does the solution have?</a:t>
            </a:r>
          </a:p>
          <a:p>
            <a:endParaRPr lang="en-US" altLang="en-US" sz="2800" dirty="0"/>
          </a:p>
          <a:p>
            <a:r>
              <a:rPr lang="en-US" altLang="en-US" sz="2800" dirty="0"/>
              <a:t>How does it relate to other technologies?</a:t>
            </a:r>
          </a:p>
          <a:p>
            <a:r>
              <a:rPr lang="en-US" altLang="en-US" sz="2800" dirty="0"/>
              <a:t>Is it developed enough to use?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E9ACFBC8-8D34-4685-879C-4DF0198C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37160"/>
            <a:ext cx="7239000" cy="715962"/>
          </a:xfrm>
        </p:spPr>
        <p:txBody>
          <a:bodyPr/>
          <a:lstStyle/>
          <a:p>
            <a:pPr eaLnBrk="1" hangingPunct="1"/>
            <a:r>
              <a:rPr lang="en-US" altLang="en-US" dirty="0"/>
              <a:t>Open vs. Closed Standards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871F1A4C-F1A7-43AF-B961-07AB2E3CB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066800"/>
            <a:ext cx="7353300" cy="56388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800000"/>
                </a:solidFill>
              </a:rPr>
              <a:t>Open standards </a:t>
            </a:r>
            <a:r>
              <a:rPr lang="en-US" altLang="en-US" sz="2400" dirty="0"/>
              <a:t>– publicly available to read and implement, free, and vendor neutral</a:t>
            </a:r>
          </a:p>
          <a:p>
            <a:pPr lvl="1" eaLnBrk="1" hangingPunct="1"/>
            <a:r>
              <a:rPr lang="en-US" altLang="en-US" sz="2000" dirty="0"/>
              <a:t>E.g., HTML, CSS, WebRTC</a:t>
            </a:r>
          </a:p>
          <a:p>
            <a:pPr eaLnBrk="1" hangingPunct="1"/>
            <a:r>
              <a:rPr lang="en-US" altLang="en-US" sz="2400" dirty="0">
                <a:solidFill>
                  <a:srgbClr val="800000"/>
                </a:solidFill>
              </a:rPr>
              <a:t>Closed standards </a:t>
            </a:r>
            <a:r>
              <a:rPr lang="en-US" altLang="en-US" sz="2400" dirty="0"/>
              <a:t>– owned by company, may or may not be publicly available or free to use</a:t>
            </a:r>
          </a:p>
          <a:p>
            <a:pPr lvl="1" eaLnBrk="1" hangingPunct="1"/>
            <a:r>
              <a:rPr lang="en-US" altLang="en-US" sz="2000" dirty="0"/>
              <a:t>E.g., Flash (Adobe), AWS (Amazon), </a:t>
            </a:r>
            <a:r>
              <a:rPr lang="en-US" altLang="en-US" sz="2000" dirty="0" err="1"/>
              <a:t>Quicktime</a:t>
            </a:r>
            <a:r>
              <a:rPr lang="en-US" altLang="en-US" sz="2000" dirty="0"/>
              <a:t> (Apple)</a:t>
            </a:r>
          </a:p>
          <a:p>
            <a:pPr eaLnBrk="1" hangingPunct="1"/>
            <a:r>
              <a:rPr lang="en-US" altLang="en-US" sz="2400" dirty="0"/>
              <a:t>Open Container Standard?</a:t>
            </a:r>
          </a:p>
          <a:p>
            <a:pPr lvl="1" eaLnBrk="1" hangingPunct="1"/>
            <a:r>
              <a:rPr lang="en-US" altLang="en-US" sz="2000" dirty="0">
                <a:hlinkClick r:id="rId3"/>
              </a:rPr>
              <a:t>https://www.opencontainers.org</a:t>
            </a:r>
            <a:endParaRPr lang="en-US" altLang="en-US" sz="2000" dirty="0"/>
          </a:p>
          <a:p>
            <a:pPr eaLnBrk="1" hangingPunct="1"/>
            <a:r>
              <a:rPr lang="en-US" altLang="en-US" sz="2400" dirty="0"/>
              <a:t>An open standard may still be encumbered by patents</a:t>
            </a:r>
          </a:p>
          <a:p>
            <a:pPr lvl="1" eaLnBrk="1" hangingPunct="1"/>
            <a:r>
              <a:rPr lang="en-US" altLang="en-US" sz="2000" dirty="0"/>
              <a:t>E.g. H.264 (the video encoding behind MP4)</a:t>
            </a:r>
          </a:p>
          <a:p>
            <a:pPr eaLnBrk="1" hangingPunct="1"/>
            <a:r>
              <a:rPr lang="en-US" altLang="en-US" sz="2400" dirty="0"/>
              <a:t>But patents have expired on other formats</a:t>
            </a:r>
          </a:p>
          <a:p>
            <a:pPr lvl="1" eaLnBrk="1" hangingPunct="1"/>
            <a:r>
              <a:rPr lang="en-US" altLang="en-US" sz="2000" dirty="0"/>
              <a:t>E.g. AAC (M4A) and MP3</a:t>
            </a:r>
          </a:p>
          <a:p>
            <a:pPr eaLnBrk="1" hangingPunct="1"/>
            <a:r>
              <a:rPr lang="en-US" altLang="en-US" sz="2400" dirty="0"/>
              <a:t>And patents may be offered under a “free” license.</a:t>
            </a:r>
          </a:p>
          <a:p>
            <a:pPr lvl="1" eaLnBrk="1" hangingPunct="1"/>
            <a:r>
              <a:rPr lang="en-US" altLang="en-US" sz="2000" dirty="0"/>
              <a:t>E.g. AV1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744E324-78B6-48EE-955D-5002E5471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BC84C3-BAF0-227C-0E5D-00B0F2DF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55637"/>
          </a:xfrm>
        </p:spPr>
        <p:txBody>
          <a:bodyPr/>
          <a:lstStyle/>
          <a:p>
            <a:r>
              <a:rPr lang="en-US" dirty="0"/>
              <a:t>Open Standards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9BB97-C783-24B9-7282-12CF24665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95" y="813594"/>
            <a:ext cx="4040188" cy="639762"/>
          </a:xfrm>
        </p:spPr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7ACB8-E8AA-39BF-CC1F-F79CF09C2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35113"/>
            <a:ext cx="4040188" cy="4591050"/>
          </a:xfrm>
        </p:spPr>
        <p:txBody>
          <a:bodyPr/>
          <a:lstStyle/>
          <a:p>
            <a:r>
              <a:rPr lang="en-US" dirty="0"/>
              <a:t>The WWW is an open standards success story because it has led to so much competition</a:t>
            </a:r>
          </a:p>
          <a:p>
            <a:r>
              <a:rPr lang="en-US" dirty="0"/>
              <a:t>Open standards lead to…</a:t>
            </a:r>
          </a:p>
          <a:p>
            <a:r>
              <a:rPr lang="en-US" dirty="0"/>
              <a:t>High levels of competition, and thus innovation</a:t>
            </a:r>
          </a:p>
          <a:p>
            <a:r>
              <a:rPr lang="en-US" dirty="0"/>
              <a:t>Reduction of vendor “</a:t>
            </a:r>
            <a:r>
              <a:rPr lang="en-US" dirty="0" err="1"/>
              <a:t>lockin</a:t>
            </a:r>
            <a:r>
              <a:rPr lang="en-US" dirty="0"/>
              <a:t>” (and monopoly prices)</a:t>
            </a:r>
          </a:p>
          <a:p>
            <a:r>
              <a:rPr lang="en-US" dirty="0"/>
              <a:t>Better interoperability across systems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18AF23-D324-D132-458D-9EB108236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9036" y="813594"/>
            <a:ext cx="4041775" cy="639762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F53129-82D0-78F3-FE44-DF53B1ABE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1535113"/>
            <a:ext cx="4041775" cy="4591050"/>
          </a:xfrm>
        </p:spPr>
        <p:txBody>
          <a:bodyPr/>
          <a:lstStyle/>
          <a:p>
            <a:pPr eaLnBrk="1" hangingPunct="1"/>
            <a:r>
              <a:rPr lang="en-US" altLang="en-US" dirty="0"/>
              <a:t>Lack of incentives to create and improve open-standards</a:t>
            </a:r>
          </a:p>
          <a:p>
            <a:pPr eaLnBrk="1" hangingPunct="1"/>
            <a:r>
              <a:rPr lang="en-US" altLang="en-US" dirty="0"/>
              <a:t>Slow to develop, since developed by committee</a:t>
            </a:r>
          </a:p>
          <a:p>
            <a:pPr eaLnBrk="1" hangingPunct="1"/>
            <a:r>
              <a:rPr lang="en-US" altLang="en-US" dirty="0"/>
              <a:t>Competing open-standards (e.g., XHTML, HTML5)</a:t>
            </a:r>
          </a:p>
          <a:p>
            <a:pPr eaLnBrk="1" hangingPunct="1"/>
            <a:r>
              <a:rPr lang="en-US" altLang="en-US" dirty="0"/>
              <a:t>May have problems or be too immature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87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7352-42A4-4AB9-9930-21129EC4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79437"/>
          </a:xfrm>
        </p:spPr>
        <p:txBody>
          <a:bodyPr/>
          <a:lstStyle/>
          <a:p>
            <a:r>
              <a:rPr lang="en-US" dirty="0"/>
              <a:t>Standardization is Messy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C3183-27F5-4ECD-8F36-69923F34E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The HTML5 Story:</a:t>
            </a:r>
          </a:p>
          <a:p>
            <a:r>
              <a:rPr lang="en-US" sz="2000" dirty="0"/>
              <a:t>The W3C formed a committee.</a:t>
            </a:r>
          </a:p>
          <a:p>
            <a:r>
              <a:rPr lang="en-US" sz="2000" dirty="0"/>
              <a:t>In 2004, standards development work broke down and they suspended meetings.</a:t>
            </a:r>
          </a:p>
          <a:p>
            <a:r>
              <a:rPr lang="en-US" sz="2000" dirty="0"/>
              <a:t>A consortium of companies formed the “Web Hypertext Application Technology Working Group” (WHATWG) and worked independently on the HTML5 standard.</a:t>
            </a:r>
          </a:p>
          <a:p>
            <a:r>
              <a:rPr lang="en-US" sz="2000" dirty="0"/>
              <a:t>HTML5 development proceeded at WHATWG with major browsers incorporating pre-standardization features.</a:t>
            </a:r>
          </a:p>
          <a:p>
            <a:r>
              <a:rPr lang="en-US" sz="2000" dirty="0"/>
              <a:t>Draft finalized in 2011 and handed back to W3C.</a:t>
            </a:r>
          </a:p>
          <a:p>
            <a:r>
              <a:rPr lang="en-US" sz="2000" dirty="0"/>
              <a:t>Standard approved by the W3C committee in 2014.</a:t>
            </a:r>
          </a:p>
          <a:p>
            <a:r>
              <a:rPr lang="en-US" sz="2000" dirty="0"/>
              <a:t>But WHATWG continued to make enhancements to a “living standard.”</a:t>
            </a:r>
          </a:p>
          <a:p>
            <a:r>
              <a:rPr lang="en-US" sz="2000" dirty="0"/>
              <a:t>The W3C formally ceded governance of HTML5 to WHATWG in 2019.</a:t>
            </a:r>
          </a:p>
          <a:p>
            <a:endParaRPr lang="en-US" sz="2000" dirty="0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0EDD4F27-9E80-46C0-AFF9-AD90001EC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088" y="838200"/>
            <a:ext cx="1524000" cy="81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43774F00-B8D9-422A-A56A-6D43E22EF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600252"/>
            <a:ext cx="1538517" cy="111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e the source image">
            <a:extLst>
              <a:ext uri="{FF2B5EF4-FFF2-40B4-BE49-F238E27FC236}">
                <a16:creationId xmlns:a16="http://schemas.microsoft.com/office/drawing/2014/main" id="{A5CC31FE-3EA8-4F52-B20E-CA7CC190EA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0" t="13773" r="32500" b="13746"/>
          <a:stretch/>
        </p:blipFill>
        <p:spPr bwMode="auto">
          <a:xfrm>
            <a:off x="7961376" y="5415015"/>
            <a:ext cx="993228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42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66C5-D914-425B-A2D5-A30A187F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HTML5 Failed to pick</a:t>
            </a:r>
            <a:br>
              <a:rPr lang="en-US" dirty="0"/>
            </a:br>
            <a:r>
              <a:rPr lang="en-US" dirty="0"/>
              <a:t>Video and Audio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FE785-C732-43C4-83C2-641533226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r>
              <a:rPr lang="en-US" dirty="0"/>
              <a:t>HTML5 includes Video and Audio tags but the formats have not been standardized by WHATWG or W3C.</a:t>
            </a:r>
          </a:p>
          <a:p>
            <a:r>
              <a:rPr lang="en-US" dirty="0"/>
              <a:t>Until recently, no single audio or video format would support all mainstream browsers</a:t>
            </a:r>
          </a:p>
          <a:p>
            <a:pPr lvl="1"/>
            <a:r>
              <a:rPr lang="en-US" dirty="0">
                <a:hlinkClick r:id="rId3"/>
              </a:rPr>
              <a:t>https://en.wikipedia.org/wiki/HTML5_video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https://en.wikipedia.org/wiki/HTML5_audio</a:t>
            </a:r>
            <a:endParaRPr lang="en-US" dirty="0"/>
          </a:p>
          <a:p>
            <a:r>
              <a:rPr lang="en-US" dirty="0"/>
              <a:t>Now, due to licensing deals, MP3, M4A, and MP4 are pretty consistently supported.</a:t>
            </a:r>
          </a:p>
        </p:txBody>
      </p:sp>
    </p:spTree>
    <p:extLst>
      <p:ext uri="{BB962C8B-B14F-4D97-AF65-F5344CB8AC3E}">
        <p14:creationId xmlns:p14="http://schemas.microsoft.com/office/powerpoint/2010/main" val="160618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1">
            <a:extLst>
              <a:ext uri="{FF2B5EF4-FFF2-40B4-BE49-F238E27FC236}">
                <a16:creationId xmlns:a16="http://schemas.microsoft.com/office/drawing/2014/main" id="{B1CF8330-A123-4847-861F-B1935907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0"/>
            <a:ext cx="9093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C73DDA-40D6-4D8F-928D-AD1BF46B5079}"/>
              </a:ext>
            </a:extLst>
          </p:cNvPr>
          <p:cNvSpPr txBox="1"/>
          <p:nvPr/>
        </p:nvSpPr>
        <p:spPr>
          <a:xfrm>
            <a:off x="6019800" y="152400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4"/>
              </a:rPr>
              <a:t>https://platform.html5.org</a:t>
            </a:r>
            <a:endParaRPr lang="en-US" sz="20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8FB7C7-8677-4759-A202-EEDDBC09B2D9}"/>
              </a:ext>
            </a:extLst>
          </p:cNvPr>
          <p:cNvSpPr/>
          <p:nvPr/>
        </p:nvSpPr>
        <p:spPr>
          <a:xfrm>
            <a:off x="8857508" y="6567549"/>
            <a:ext cx="228600" cy="2286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4935-FCF6-4810-BCAD-426F88A6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Latest Web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D3CF0-CF7A-45BD-9C46-60BB38524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SVG (Scalable Vector Graphics)</a:t>
            </a:r>
          </a:p>
          <a:p>
            <a:r>
              <a:rPr lang="en-US" dirty="0"/>
              <a:t>Canvas (Raster Graphics and Drawing)</a:t>
            </a:r>
          </a:p>
          <a:p>
            <a:r>
              <a:rPr lang="en-US" dirty="0"/>
              <a:t>Web RTC</a:t>
            </a:r>
          </a:p>
          <a:p>
            <a:r>
              <a:rPr lang="en-US" dirty="0"/>
              <a:t>WebGL (GPU Access from the Web)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7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2873BA61-2667-4BC7-A481-DABFAAD1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SVG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06F8DEA1-6B6A-4E72-9CD8-EB68451DC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000" dirty="0"/>
              <a:t>Scalable Vector Graphics (</a:t>
            </a:r>
            <a:r>
              <a:rPr lang="en-US" altLang="en-US" sz="3000" dirty="0">
                <a:solidFill>
                  <a:srgbClr val="800000"/>
                </a:solidFill>
              </a:rPr>
              <a:t>SVG</a:t>
            </a:r>
            <a:r>
              <a:rPr lang="en-US" altLang="en-US" sz="3000" dirty="0"/>
              <a:t>) and </a:t>
            </a:r>
            <a:r>
              <a:rPr lang="en-US" altLang="en-US" sz="3000" dirty="0">
                <a:solidFill>
                  <a:srgbClr val="800000"/>
                </a:solidFill>
              </a:rPr>
              <a:t>Canvas</a:t>
            </a:r>
            <a:r>
              <a:rPr lang="en-US" altLang="en-US" sz="3000" dirty="0"/>
              <a:t> are open standards for drawing and modifying web-based graphics – especially 2D graphics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/>
              <a:t>Replacement for Flash</a:t>
            </a:r>
            <a:br>
              <a:rPr lang="en-US" altLang="en-US" sz="3000" dirty="0"/>
            </a:br>
            <a:r>
              <a:rPr lang="en-US" altLang="en-US" sz="2400" dirty="0"/>
              <a:t>(In part; also see Canvas)</a:t>
            </a:r>
            <a:endParaRPr lang="en-US" altLang="en-US" sz="3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/>
              <a:t>SVG is vector-based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/>
              <a:t>SVG elements (i.e., graphics) are DOM elements and can be created and manipulated in JavaScript.</a:t>
            </a:r>
            <a:endParaRPr lang="en-US" alt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3D3CF38-3F65-4057-9502-38F1A5EE4124}"/>
              </a:ext>
            </a:extLst>
          </p:cNvPr>
          <p:cNvSpPr/>
          <p:nvPr/>
        </p:nvSpPr>
        <p:spPr>
          <a:xfrm>
            <a:off x="1905000" y="2438400"/>
            <a:ext cx="4800600" cy="2819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Hello, world!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EDECB2-9995-4D9E-B906-29AD19B5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 Demo</a:t>
            </a:r>
          </a:p>
        </p:txBody>
      </p:sp>
    </p:spTree>
    <p:extLst>
      <p:ext uri="{BB962C8B-B14F-4D97-AF65-F5344CB8AC3E}">
        <p14:creationId xmlns:p14="http://schemas.microsoft.com/office/powerpoint/2010/main" val="4062318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1F6C11D6-7DEC-4247-82C6-D832F31C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1159"/>
          </a:xfrm>
        </p:spPr>
        <p:txBody>
          <a:bodyPr/>
          <a:lstStyle/>
          <a:p>
            <a:pPr eaLnBrk="1" hangingPunct="1"/>
            <a:r>
              <a:rPr lang="en-US" altLang="en-US" dirty="0"/>
              <a:t>SVG Libraries</a:t>
            </a:r>
          </a:p>
        </p:txBody>
      </p:sp>
      <p:grpSp>
        <p:nvGrpSpPr>
          <p:cNvPr id="34818" name="Group 5">
            <a:extLst>
              <a:ext uri="{FF2B5EF4-FFF2-40B4-BE49-F238E27FC236}">
                <a16:creationId xmlns:a16="http://schemas.microsoft.com/office/drawing/2014/main" id="{A3C44E12-CFA0-49A0-88E3-C46F3080D35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013353"/>
            <a:ext cx="3657600" cy="5181600"/>
            <a:chOff x="4638550" y="744056"/>
            <a:chExt cx="4289550" cy="5876624"/>
          </a:xfrm>
        </p:grpSpPr>
        <p:pic>
          <p:nvPicPr>
            <p:cNvPr id="34822" name="Picture 3" descr="Screen Shot 2013-11-17 at 1.06.07 AM.png">
              <a:hlinkClick r:id="rId3"/>
              <a:extLst>
                <a:ext uri="{FF2B5EF4-FFF2-40B4-BE49-F238E27FC236}">
                  <a16:creationId xmlns:a16="http://schemas.microsoft.com/office/drawing/2014/main" id="{0E79198F-34B6-4CC1-A6E2-BC8DCE9FC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8550" y="1447800"/>
              <a:ext cx="4276850" cy="517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23" name="Picture 4" descr="Screen Shot 2013-11-17 at 1.07.08 AM.png">
              <a:extLst>
                <a:ext uri="{FF2B5EF4-FFF2-40B4-BE49-F238E27FC236}">
                  <a16:creationId xmlns:a16="http://schemas.microsoft.com/office/drawing/2014/main" id="{9BE29BD5-ADD2-4E4E-8ECE-CEB64CACE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744056"/>
              <a:ext cx="4279900" cy="71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" name="Picture 6" descr="Screen Shot 2013-11-17 at 1.09.33 AM.png">
            <a:hlinkClick r:id="rId6"/>
            <a:extLst>
              <a:ext uri="{FF2B5EF4-FFF2-40B4-BE49-F238E27FC236}">
                <a16:creationId xmlns:a16="http://schemas.microsoft.com/office/drawing/2014/main" id="{A373273F-B300-4EE4-8009-A5D9DE9B40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444182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75CC4A-2B2E-42B6-86D4-AC99FA01C926}"/>
              </a:ext>
            </a:extLst>
          </p:cNvPr>
          <p:cNvSpPr txBox="1"/>
          <p:nvPr/>
        </p:nvSpPr>
        <p:spPr>
          <a:xfrm>
            <a:off x="228600" y="5715000"/>
            <a:ext cx="2808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d3js.org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AC594-E9C9-4EF8-B08D-AA6FD846C424}"/>
              </a:ext>
            </a:extLst>
          </p:cNvPr>
          <p:cNvSpPr txBox="1"/>
          <p:nvPr/>
        </p:nvSpPr>
        <p:spPr>
          <a:xfrm>
            <a:off x="5378035" y="6194953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raphaeljs.com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7A1C-E091-90D8-A219-65C24E7AA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38B4C-1D98-A4D7-8AF1-7C8007256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000" dirty="0"/>
              <a:t>2D Bitmap-Based Graphics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/>
              <a:t>A Canvas is a single DOM element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/>
              <a:t>Like SVG, the canvas can be manipulated in JavaScript.</a:t>
            </a:r>
          </a:p>
        </p:txBody>
      </p:sp>
    </p:spTree>
    <p:extLst>
      <p:ext uri="{BB962C8B-B14F-4D97-AF65-F5344CB8AC3E}">
        <p14:creationId xmlns:p14="http://schemas.microsoft.com/office/powerpoint/2010/main" val="4085794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B87A-6F4B-6D40-451B-471D1E7B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r>
              <a:rPr lang="en-US" dirty="0"/>
              <a:t>Canvas 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BD4706-C75D-5619-B171-354C946B8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066800"/>
            <a:ext cx="7620000" cy="506152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4529F7-C067-A5A7-B03E-2706FAB0DFFC}"/>
              </a:ext>
            </a:extLst>
          </p:cNvPr>
          <p:cNvSpPr txBox="1"/>
          <p:nvPr/>
        </p:nvSpPr>
        <p:spPr>
          <a:xfrm>
            <a:off x="3838742" y="6280728"/>
            <a:ext cx="4848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hlinkClick r:id="rId3"/>
              </a:rPr>
              <a:t>https://viliusle.github.io/miniPaint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4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EFCCD44A-3F07-4511-BF60-2E2A1A12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Canvas Libraries</a:t>
            </a:r>
          </a:p>
        </p:txBody>
      </p:sp>
      <p:grpSp>
        <p:nvGrpSpPr>
          <p:cNvPr id="36866" name="Group 5">
            <a:extLst>
              <a:ext uri="{FF2B5EF4-FFF2-40B4-BE49-F238E27FC236}">
                <a16:creationId xmlns:a16="http://schemas.microsoft.com/office/drawing/2014/main" id="{66B31CD1-4990-4C3E-B249-4D4D9F7AB35E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406650"/>
            <a:ext cx="3886200" cy="3536950"/>
            <a:chOff x="0" y="2406986"/>
            <a:chExt cx="4800600" cy="3937161"/>
          </a:xfrm>
        </p:grpSpPr>
        <p:pic>
          <p:nvPicPr>
            <p:cNvPr id="36870" name="Picture 3" descr="Screen Shot 2013-11-17 at 1.23.24 AM.png">
              <a:hlinkClick r:id="rId2"/>
              <a:extLst>
                <a:ext uri="{FF2B5EF4-FFF2-40B4-BE49-F238E27FC236}">
                  <a16:creationId xmlns:a16="http://schemas.microsoft.com/office/drawing/2014/main" id="{8167C749-0C55-45EF-BA3F-168EDF548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280170"/>
              <a:ext cx="4800600" cy="3063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1" name="Picture 4" descr="Screen Shot 2013-11-17 at 1.23.59 AM.png">
              <a:extLst>
                <a:ext uri="{FF2B5EF4-FFF2-40B4-BE49-F238E27FC236}">
                  <a16:creationId xmlns:a16="http://schemas.microsoft.com/office/drawing/2014/main" id="{B2E8542D-C5B7-4C39-9878-0D8A82DCD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406986"/>
              <a:ext cx="4800600" cy="83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867" name="Group 9">
            <a:extLst>
              <a:ext uri="{FF2B5EF4-FFF2-40B4-BE49-F238E27FC236}">
                <a16:creationId xmlns:a16="http://schemas.microsoft.com/office/drawing/2014/main" id="{C99B4230-2A8E-4E45-B0DA-599A46FC1D5E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286000"/>
            <a:ext cx="4191000" cy="3662363"/>
            <a:chOff x="4800600" y="2286000"/>
            <a:chExt cx="4191000" cy="3662130"/>
          </a:xfrm>
        </p:grpSpPr>
        <p:pic>
          <p:nvPicPr>
            <p:cNvPr id="36868" name="Picture 7" descr="Screen Shot 2013-11-17 at 1.25.15 AM.png">
              <a:hlinkClick r:id="rId5"/>
              <a:extLst>
                <a:ext uri="{FF2B5EF4-FFF2-40B4-BE49-F238E27FC236}">
                  <a16:creationId xmlns:a16="http://schemas.microsoft.com/office/drawing/2014/main" id="{A694929C-FB14-4880-B243-A471190BA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3175689"/>
              <a:ext cx="4191000" cy="2772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69" name="Picture 8" descr="Screen Shot 2013-11-17 at 1.25.55 AM.png">
              <a:extLst>
                <a:ext uri="{FF2B5EF4-FFF2-40B4-BE49-F238E27FC236}">
                  <a16:creationId xmlns:a16="http://schemas.microsoft.com/office/drawing/2014/main" id="{3F514E6D-4EB6-45DC-BBA6-E602B2FAB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2600" y="2286000"/>
              <a:ext cx="2781300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3E929405-7CFC-497D-9C07-F22D7D0D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Web RTC</a:t>
            </a:r>
          </a:p>
        </p:txBody>
      </p:sp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43B30887-5DA0-444F-8E0A-CD895F1AC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pPr eaLnBrk="1" hangingPunct="1"/>
            <a:r>
              <a:rPr lang="en-US" altLang="en-US" dirty="0">
                <a:hlinkClick r:id="rId3"/>
              </a:rPr>
              <a:t>Web RTC </a:t>
            </a:r>
            <a:r>
              <a:rPr lang="en-US" altLang="en-US" dirty="0"/>
              <a:t>– real-time communication protocol with no plugins required for audio/video/data</a:t>
            </a:r>
          </a:p>
          <a:p>
            <a:pPr lvl="1" eaLnBrk="1" hangingPunct="1"/>
            <a:r>
              <a:rPr lang="en-US" altLang="en-US" dirty="0"/>
              <a:t>supports direct peer-to-peer communication</a:t>
            </a:r>
          </a:p>
          <a:p>
            <a:pPr lvl="1" eaLnBrk="1" hangingPunct="1"/>
            <a:r>
              <a:rPr lang="en-US" altLang="en-US" dirty="0"/>
              <a:t>Currently supported by Chrome, Edge (Chromium version), Firefox, Opera</a:t>
            </a:r>
          </a:p>
          <a:p>
            <a:pPr lvl="1" eaLnBrk="1" hangingPunct="1"/>
            <a:r>
              <a:rPr lang="en-US" altLang="en-US" dirty="0"/>
              <a:t>WebRTC 1.0 </a:t>
            </a:r>
            <a:r>
              <a:rPr lang="en-US" altLang="en-US" dirty="0">
                <a:hlinkClick r:id="rId4"/>
              </a:rPr>
              <a:t>Working Draft</a:t>
            </a:r>
            <a:r>
              <a:rPr lang="en-US" altLang="en-US" dirty="0"/>
              <a:t> Standard</a:t>
            </a:r>
          </a:p>
          <a:p>
            <a:pPr lvl="1" eaLnBrk="1" hangingPunct="1"/>
            <a:r>
              <a:rPr lang="en-US" altLang="en-US" dirty="0"/>
              <a:t>Utilized by: Google Meetings, Join.me, Facebook Messenger, Google Voice, Discord, Amazon Chime, </a:t>
            </a:r>
            <a:r>
              <a:rPr lang="en-US" altLang="en-US" dirty="0" err="1"/>
              <a:t>GotoMeeting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See </a:t>
            </a:r>
            <a:r>
              <a:rPr lang="en-US" altLang="en-US" dirty="0">
                <a:hlinkClick r:id="rId5"/>
              </a:rPr>
              <a:t>https://www.webrtc-experiment.com/</a:t>
            </a:r>
            <a:r>
              <a:rPr lang="en-US" altLang="en-US" dirty="0"/>
              <a:t> for other examples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BF929-8378-0B32-9231-8E9B54AA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WebRTC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2E30D-E561-4AA5-F87A-F39E2F972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&lt;div&gt;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&lt;video id="vid1" muted autoplay style="width: 15em; height: 15em;"&gt;&lt;/video&gt;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&lt;button onclick="capture()"&gt;Capture&lt;/button&gt;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&lt;script&gt;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async function capture() {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let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mediaStream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await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navigator.mediaDevices.getDisplayMedia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{video: {cursor: "always"}, audio: false});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("vid1").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mediaStream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&lt;/script&gt;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  <a:endParaRPr lang="en-US" sz="1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68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3E4DF7A9-8553-4CCC-9AD0-F408E8B07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6868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WebGL &amp; </a:t>
            </a:r>
            <a:r>
              <a:rPr lang="en-US" altLang="en-US" dirty="0" err="1"/>
              <a:t>WebGPU</a:t>
            </a:r>
            <a:r>
              <a:rPr lang="en-US" altLang="en-US" dirty="0"/>
              <a:t> for 3D Rendering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74AA562C-AE2F-40DE-AD68-561626837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2667000"/>
          </a:xfrm>
        </p:spPr>
        <p:txBody>
          <a:bodyPr/>
          <a:lstStyle/>
          <a:p>
            <a:pPr eaLnBrk="1" hangingPunct="1"/>
            <a:r>
              <a:rPr lang="en-US" altLang="en-US" dirty="0"/>
              <a:t>WebGL and </a:t>
            </a:r>
            <a:r>
              <a:rPr lang="en-US" altLang="en-US" dirty="0" err="1"/>
              <a:t>WebGPU</a:t>
            </a:r>
            <a:r>
              <a:rPr lang="en-US" altLang="en-US" dirty="0"/>
              <a:t> – graphics run on your GPU instead of CPU, making it much faster for 3D rendering and other visually-intensive tasks</a:t>
            </a:r>
          </a:p>
          <a:p>
            <a:pPr eaLnBrk="1" hangingPunct="1"/>
            <a:r>
              <a:rPr lang="en-US" altLang="en-US" dirty="0">
                <a:hlinkClick r:id="rId3"/>
              </a:rPr>
              <a:t>Three.js</a:t>
            </a:r>
            <a:r>
              <a:rPr lang="en-US" altLang="en-US" dirty="0"/>
              <a:t> and </a:t>
            </a:r>
            <a:r>
              <a:rPr lang="en-US" altLang="en-US" dirty="0">
                <a:hlinkClick r:id="rId4"/>
              </a:rPr>
              <a:t>Babalon.js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37891" name="Picture 4" descr="Screen Shot 2013-11-17 at 1.28.46 AM.png">
            <a:extLst>
              <a:ext uri="{FF2B5EF4-FFF2-40B4-BE49-F238E27FC236}">
                <a16:creationId xmlns:a16="http://schemas.microsoft.com/office/drawing/2014/main" id="{0BF35438-4812-487B-83ED-A973E34054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2400"/>
            <a:ext cx="9144000" cy="287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D71B-1A21-C21D-8506-34D2A6E5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WebGL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DAC3D-78EE-B5B1-D509-6CE61AFE8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https://webglsamples.org/aquarium/aquarium.html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18747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36C2-EF7C-0D3A-ECE5-3536A265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 CSS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C7A8C-32B6-900F-36C4-034B65014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latin typeface="Tahoma" panose="020B0604030504040204" pitchFamily="34" charset="0"/>
              </a:rPr>
              <a:t>CSS3 is now broken into “modules” – each of which is approved individually (e.g., flexbox; grids)</a:t>
            </a:r>
          </a:p>
          <a:p>
            <a:pPr lvl="1" eaLnBrk="1" hangingPunct="1"/>
            <a:r>
              <a:rPr lang="en-US" altLang="en-US" sz="2000" dirty="0">
                <a:latin typeface="Tahoma" panose="020B0604030504040204" pitchFamily="34" charset="0"/>
              </a:rPr>
              <a:t>New functionality for improved graphics, interactivity (e.g., animation), etc.</a:t>
            </a:r>
          </a:p>
          <a:p>
            <a:endParaRPr lang="en-US" dirty="0"/>
          </a:p>
        </p:txBody>
      </p:sp>
      <p:pic>
        <p:nvPicPr>
          <p:cNvPr id="3074" name="Picture 2" descr="What Is CSS3? Cascading Style Sheets Level 3">
            <a:extLst>
              <a:ext uri="{FF2B5EF4-FFF2-40B4-BE49-F238E27FC236}">
                <a16:creationId xmlns:a16="http://schemas.microsoft.com/office/drawing/2014/main" id="{860F0A92-7706-55A3-9EFA-EA1BFA8B8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3886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403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65E9E676-2B09-47AF-8C6A-28577CEC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latin typeface="Tahoma" panose="020B0604030504040204" pitchFamily="34" charset="0"/>
              </a:rPr>
              <a:t>HTTP/2 is a faster implementation</a:t>
            </a:r>
            <a:br>
              <a:rPr lang="en-US" altLang="en-US" sz="3600" dirty="0">
                <a:latin typeface="Tahoma" panose="020B0604030504040204" pitchFamily="34" charset="0"/>
              </a:rPr>
            </a:br>
            <a:r>
              <a:rPr lang="en-US" altLang="en-US" sz="3600" dirty="0">
                <a:latin typeface="Tahoma" panose="020B0604030504040204" pitchFamily="34" charset="0"/>
              </a:rPr>
              <a:t>of HTTP(S)</a:t>
            </a:r>
          </a:p>
        </p:txBody>
      </p:sp>
      <p:sp>
        <p:nvSpPr>
          <p:cNvPr id="39938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D32E4BC-0282-4DF5-AD93-EB423E999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6576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latin typeface="Tahoma" panose="020B0604030504040204" pitchFamily="34" charset="0"/>
              </a:rPr>
              <a:t>It uses binary headers</a:t>
            </a:r>
          </a:p>
          <a:p>
            <a:pPr eaLnBrk="1" hangingPunct="1"/>
            <a:r>
              <a:rPr lang="en-US" altLang="en-US" sz="2400" dirty="0">
                <a:latin typeface="Tahoma" panose="020B0604030504040204" pitchFamily="34" charset="0"/>
              </a:rPr>
              <a:t>It allows multiple requests</a:t>
            </a:r>
            <a:br>
              <a:rPr lang="en-US" altLang="en-US" sz="2400" dirty="0">
                <a:latin typeface="Tahoma" panose="020B0604030504040204" pitchFamily="34" charset="0"/>
              </a:rPr>
            </a:br>
            <a:r>
              <a:rPr lang="en-US" altLang="en-US" sz="2400" dirty="0">
                <a:latin typeface="Tahoma" panose="020B0604030504040204" pitchFamily="34" charset="0"/>
              </a:rPr>
              <a:t>to be made at the same</a:t>
            </a:r>
            <a:br>
              <a:rPr lang="en-US" altLang="en-US" sz="2400" dirty="0">
                <a:latin typeface="Tahoma" panose="020B0604030504040204" pitchFamily="34" charset="0"/>
              </a:rPr>
            </a:br>
            <a:r>
              <a:rPr lang="en-US" altLang="en-US" sz="2400" dirty="0">
                <a:latin typeface="Tahoma" panose="020B0604030504040204" pitchFamily="34" charset="0"/>
              </a:rPr>
              <a:t>time over a single</a:t>
            </a:r>
            <a:br>
              <a:rPr lang="en-US" altLang="en-US" sz="2400" dirty="0">
                <a:latin typeface="Tahoma" panose="020B0604030504040204" pitchFamily="34" charset="0"/>
              </a:rPr>
            </a:br>
            <a:r>
              <a:rPr lang="en-US" altLang="en-US" sz="2400" dirty="0">
                <a:latin typeface="Tahoma" panose="020B0604030504040204" pitchFamily="34" charset="0"/>
              </a:rPr>
              <a:t>connection.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0EB829-45D1-90CC-7D59-29E1C7AA2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657600"/>
            <a:ext cx="4419600" cy="235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2D8CF1-63EB-D62D-B2D5-E9337BD15463}"/>
              </a:ext>
            </a:extLst>
          </p:cNvPr>
          <p:cNvSpPr txBox="1"/>
          <p:nvPr/>
        </p:nvSpPr>
        <p:spPr>
          <a:xfrm>
            <a:off x="47325" y="3684872"/>
            <a:ext cx="399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600" dirty="0">
                <a:latin typeface="Tahoma" panose="020B0604030504040204" pitchFamily="34" charset="0"/>
              </a:rPr>
              <a:t>See: </a:t>
            </a:r>
            <a:r>
              <a:rPr lang="en-US" altLang="en-US" sz="1600" dirty="0">
                <a:latin typeface="Tahoma" panose="020B0604030504040204" pitchFamily="34" charset="0"/>
                <a:hlinkClick r:id="rId4"/>
              </a:rPr>
              <a:t>https://en.wikipedia.org/wiki/HTTP/2</a:t>
            </a:r>
            <a:endParaRPr lang="en-US" altLang="en-US" sz="1600" dirty="0">
              <a:latin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BC660-E18A-FEBA-F708-A4056BB53AE7}"/>
              </a:ext>
            </a:extLst>
          </p:cNvPr>
          <p:cNvSpPr txBox="1"/>
          <p:nvPr/>
        </p:nvSpPr>
        <p:spPr>
          <a:xfrm>
            <a:off x="4014031" y="6014720"/>
            <a:ext cx="5098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600" dirty="0"/>
              <a:t>Diagram: </a:t>
            </a:r>
            <a:r>
              <a:rPr lang="en-US" altLang="en-US" sz="1600" dirty="0">
                <a:hlinkClick r:id="rId5"/>
              </a:rPr>
              <a:t>https://coolicehost.com/http2-protocol.html</a:t>
            </a:r>
            <a:r>
              <a:rPr lang="en-US" altLang="en-US" sz="1600" dirty="0"/>
              <a:t> </a:t>
            </a:r>
            <a:endParaRPr lang="en-US" altLang="en-US" sz="16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C458-0336-C3BC-15FE-D3A356E5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219200"/>
          </a:xfrm>
        </p:spPr>
        <p:txBody>
          <a:bodyPr/>
          <a:lstStyle/>
          <a:p>
            <a:r>
              <a:rPr lang="en-US" dirty="0"/>
              <a:t>Other New(er) and Emerging</a:t>
            </a:r>
            <a:br>
              <a:rPr lang="en-US" dirty="0"/>
            </a:br>
            <a:r>
              <a:rPr lang="en-US" dirty="0"/>
              <a:t>Web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FD1FA-F8E4-1F0E-07BC-81684FD9D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WebSocket (2010)</a:t>
            </a:r>
          </a:p>
          <a:p>
            <a:pPr lvl="1"/>
            <a:r>
              <a:rPr lang="en-US" sz="2400" dirty="0"/>
              <a:t>Stateful connection between browser and server.</a:t>
            </a:r>
          </a:p>
          <a:p>
            <a:pPr lvl="1"/>
            <a:r>
              <a:rPr lang="en-US" sz="2400" dirty="0"/>
              <a:t>Allows push notifications from server to browser.</a:t>
            </a:r>
          </a:p>
          <a:p>
            <a:r>
              <a:rPr lang="en-US" sz="2800" dirty="0"/>
              <a:t>Web Components (2018)</a:t>
            </a:r>
          </a:p>
          <a:p>
            <a:pPr lvl="1"/>
            <a:r>
              <a:rPr lang="en-US" sz="2400" dirty="0"/>
              <a:t>Create your own custom HTML tags</a:t>
            </a:r>
          </a:p>
          <a:p>
            <a:r>
              <a:rPr lang="en-US" sz="2800" dirty="0"/>
              <a:t>MathML Core (2024)</a:t>
            </a:r>
          </a:p>
          <a:p>
            <a:pPr lvl="1"/>
            <a:r>
              <a:rPr lang="en-US" sz="2400" dirty="0"/>
              <a:t>Mathematics markup for complex formulas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5895F-4FB6-E0F5-D7AA-BB34511B9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953000"/>
            <a:ext cx="4829849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17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7956-35AA-8079-FC63-3C07FA33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More: </a:t>
            </a:r>
            <a:r>
              <a:rPr lang="en-US" dirty="0" err="1"/>
              <a:t>WebAssembly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BA6D9-D7E9-F0E6-5D6B-C7C371688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WebAssembly</a:t>
            </a:r>
            <a:r>
              <a:rPr lang="en-US" sz="2800" dirty="0"/>
              <a:t> (2019)</a:t>
            </a:r>
          </a:p>
          <a:p>
            <a:pPr lvl="1"/>
            <a:r>
              <a:rPr lang="en-US" sz="2400" dirty="0"/>
              <a:t>Portable binary code that runs on the browser.</a:t>
            </a:r>
          </a:p>
          <a:p>
            <a:pPr lvl="1"/>
            <a:r>
              <a:rPr lang="en-US" sz="2400" dirty="0"/>
              <a:t>Compiled Languages other than JavaScript running on the browser.</a:t>
            </a:r>
          </a:p>
          <a:p>
            <a:pPr lvl="1"/>
            <a:r>
              <a:rPr lang="en-US" sz="2400" dirty="0"/>
              <a:t>Cannot directly access the DOM or WebGL. Rather, it must call JavaScript which then accesses other functions. Nevertheless, some impressive stuff has been done this way.</a:t>
            </a:r>
          </a:p>
          <a:p>
            <a:pPr lvl="1"/>
            <a:r>
              <a:rPr lang="en-US" sz="2400" dirty="0">
                <a:hlinkClick r:id="rId2"/>
              </a:rPr>
              <a:t>https://www.webassemblygames.com/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917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C836-60DA-D3AB-810F-E5E017B1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/>
          <a:lstStyle/>
          <a:p>
            <a:r>
              <a:rPr lang="en-US" dirty="0"/>
              <a:t>Even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3704F-DBB8-178A-9770-CD0AEADC7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02" y="635266"/>
            <a:ext cx="8229600" cy="5613133"/>
          </a:xfrm>
        </p:spPr>
        <p:txBody>
          <a:bodyPr/>
          <a:lstStyle/>
          <a:p>
            <a:r>
              <a:rPr lang="en-US" dirty="0"/>
              <a:t>Directory of Browser Technologies at</a:t>
            </a:r>
            <a:br>
              <a:rPr lang="en-US" dirty="0"/>
            </a:br>
            <a:r>
              <a:rPr lang="en-US" dirty="0">
                <a:hlinkClick r:id="rId2"/>
              </a:rPr>
              <a:t>https://html-now.github.io/</a:t>
            </a:r>
            <a:endParaRPr lang="en-US" dirty="0"/>
          </a:p>
          <a:p>
            <a:r>
              <a:rPr lang="en-US" dirty="0"/>
              <a:t>Find out what works at </a:t>
            </a:r>
            <a:r>
              <a:rPr lang="en-US" dirty="0">
                <a:hlinkClick r:id="rId3"/>
              </a:rPr>
              <a:t>https://caniuse.com</a:t>
            </a:r>
            <a:endParaRPr lang="en-US" dirty="0"/>
          </a:p>
          <a:p>
            <a:r>
              <a:rPr lang="en-US" dirty="0"/>
              <a:t>Touch Events</a:t>
            </a:r>
          </a:p>
          <a:p>
            <a:r>
              <a:rPr lang="en-US" dirty="0"/>
              <a:t>Vibration</a:t>
            </a:r>
          </a:p>
          <a:p>
            <a:r>
              <a:rPr lang="en-US" dirty="0"/>
              <a:t>Animations</a:t>
            </a:r>
          </a:p>
          <a:p>
            <a:r>
              <a:rPr lang="en-US" dirty="0"/>
              <a:t>Cryptography</a:t>
            </a:r>
          </a:p>
          <a:p>
            <a:r>
              <a:rPr lang="en-US" dirty="0"/>
              <a:t>And so on…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4928F-FD0E-3BD0-1E58-DDCBF66C7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202" y="2362202"/>
            <a:ext cx="5670388" cy="440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4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JavaScript Polyfills On The Fly Depending On The Browser With polyfill.io - Andreas Wik">
            <a:extLst>
              <a:ext uri="{FF2B5EF4-FFF2-40B4-BE49-F238E27FC236}">
                <a16:creationId xmlns:a16="http://schemas.microsoft.com/office/drawing/2014/main" id="{D49CF179-5C01-C8BE-B729-7399B95B8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00" r="25582"/>
          <a:stretch/>
        </p:blipFill>
        <p:spPr bwMode="auto">
          <a:xfrm>
            <a:off x="6553199" y="4395786"/>
            <a:ext cx="1676401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807A2-CE17-8D0D-588B-ECBE17B8E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Polyfills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43A43-5BEC-E33A-507E-927002ACD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004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polyfill</a:t>
            </a:r>
            <a:r>
              <a:rPr lang="en-US" dirty="0"/>
              <a:t> is a JavaScript module that adds features to a browser before standardization and native implementations are complete.</a:t>
            </a:r>
          </a:p>
          <a:p>
            <a:r>
              <a:rPr lang="en-US" dirty="0"/>
              <a:t>Historically: SVG, MathML, Web Components all had </a:t>
            </a:r>
            <a:r>
              <a:rPr lang="en-US" dirty="0" err="1"/>
              <a:t>polyfill</a:t>
            </a:r>
            <a:r>
              <a:rPr lang="en-US" dirty="0"/>
              <a:t> implementations before the final versions came out.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39C3C-996D-659F-0385-C0AB70EA4500}"/>
              </a:ext>
            </a:extLst>
          </p:cNvPr>
          <p:cNvSpPr txBox="1"/>
          <p:nvPr/>
        </p:nvSpPr>
        <p:spPr>
          <a:xfrm>
            <a:off x="2362200" y="6272630"/>
            <a:ext cx="6557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See: </a:t>
            </a:r>
            <a:r>
              <a:rPr lang="en-US" sz="1800" dirty="0">
                <a:hlinkClick r:id="rId3"/>
              </a:rPr>
              <a:t>https://developer.mozilla.org/en-US/docs/Glossary/Polyfill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1611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DC9DD4F-7654-4E68-87AE-F275F8A7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Also See…</a:t>
            </a:r>
          </a:p>
        </p:txBody>
      </p:sp>
      <p:sp>
        <p:nvSpPr>
          <p:cNvPr id="41986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8A20A5E-0B29-402D-AFA3-871595C98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  <a:hlinkClick r:id="rId3"/>
              </a:rPr>
              <a:t>Web Fundamentals </a:t>
            </a:r>
            <a:r>
              <a:rPr lang="en-US" altLang="en-US" dirty="0">
                <a:latin typeface="Tahoma" panose="020B0604030504040204" pitchFamily="34" charset="0"/>
              </a:rPr>
              <a:t>(Google)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  <a:hlinkClick r:id="rId4"/>
              </a:rPr>
              <a:t>Mozilla Developer Network </a:t>
            </a:r>
            <a:r>
              <a:rPr lang="en-US" altLang="en-US" dirty="0">
                <a:latin typeface="Tahoma" panose="020B0604030504040204" pitchFamily="34" charset="0"/>
              </a:rPr>
              <a:t>(Mozilla)</a:t>
            </a:r>
          </a:p>
          <a:p>
            <a:pPr eaLnBrk="1" hangingPunct="1"/>
            <a:r>
              <a:rPr lang="en-US" altLang="en-US" dirty="0" err="1">
                <a:latin typeface="Tahoma" panose="020B0604030504040204" pitchFamily="34" charset="0"/>
              </a:rPr>
              <a:t>Codepen</a:t>
            </a:r>
            <a:r>
              <a:rPr lang="en-US" altLang="en-US" dirty="0">
                <a:latin typeface="Tahoma" panose="020B0604030504040204" pitchFamily="34" charset="0"/>
              </a:rPr>
              <a:t> </a:t>
            </a:r>
            <a:r>
              <a:rPr lang="en-US" altLang="en-US" dirty="0">
                <a:latin typeface="Tahoma" panose="020B0604030504040204" pitchFamily="34" charset="0"/>
                <a:hlinkClick r:id="rId5"/>
              </a:rPr>
              <a:t>demos</a:t>
            </a:r>
            <a:endParaRPr lang="en-US" altLang="en-US" dirty="0">
              <a:latin typeface="Tahoma" panose="020B060403050404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DFF45C-F2C9-42D8-8AA9-F8FD3C558D62}"/>
              </a:ext>
            </a:extLst>
          </p:cNvPr>
          <p:cNvSpPr/>
          <p:nvPr/>
        </p:nvSpPr>
        <p:spPr>
          <a:xfrm>
            <a:off x="8857508" y="6567549"/>
            <a:ext cx="228600" cy="2286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BDA88E49-34D5-4E79-A5C7-0D4CDD34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Study Questions</a:t>
            </a:r>
          </a:p>
        </p:txBody>
      </p:sp>
      <p:sp>
        <p:nvSpPr>
          <p:cNvPr id="19459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F9FF9F4-0F15-9443-9DA2-3DFA1C96A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latin typeface="Tahoma" charset="0"/>
                <a:ea typeface="+mn-ea"/>
              </a:rPr>
              <a:t>What factors lead to tech change?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latin typeface="Tahoma" charset="0"/>
                <a:ea typeface="+mn-ea"/>
              </a:rPr>
              <a:t>What is an open standard and what are the benefits and challenges of using them?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latin typeface="Tahoma" charset="0"/>
                <a:ea typeface="+mn-ea"/>
              </a:rPr>
              <a:t>What is </a:t>
            </a:r>
            <a:r>
              <a:rPr lang="en-US" sz="2800" dirty="0" err="1">
                <a:latin typeface="Tahoma" charset="0"/>
                <a:ea typeface="+mn-ea"/>
              </a:rPr>
              <a:t>WebRTC</a:t>
            </a:r>
            <a:r>
              <a:rPr lang="en-US" sz="2800" dirty="0">
                <a:latin typeface="Tahoma" charset="0"/>
                <a:ea typeface="+mn-ea"/>
              </a:rPr>
              <a:t>?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latin typeface="Tahoma" charset="0"/>
                <a:ea typeface="+mn-ea"/>
              </a:rPr>
              <a:t>What are SVG and Canvas used for? How are they different?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latin typeface="Tahoma" charset="0"/>
                <a:ea typeface="+mn-ea"/>
              </a:rPr>
              <a:t>What is WebGL and when would it be used?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latin typeface="Tahoma" charset="0"/>
                <a:ea typeface="+mn-ea"/>
              </a:rPr>
              <a:t>What is common about using each of these? What is distinct?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800" dirty="0">
              <a:latin typeface="Tahoma" charset="0"/>
              <a:ea typeface="+mn-ea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8062</TotalTime>
  <Words>1959</Words>
  <Application>Microsoft Office PowerPoint</Application>
  <PresentationFormat>On-screen Show (4:3)</PresentationFormat>
  <Paragraphs>189</Paragraphs>
  <Slides>28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ＭＳ Ｐゴシック</vt:lpstr>
      <vt:lpstr>Arial</vt:lpstr>
      <vt:lpstr>Calibri</vt:lpstr>
      <vt:lpstr>Consolas</vt:lpstr>
      <vt:lpstr>Mangal</vt:lpstr>
      <vt:lpstr>Tahoma</vt:lpstr>
      <vt:lpstr>Times New Roman</vt:lpstr>
      <vt:lpstr>Office Theme</vt:lpstr>
      <vt:lpstr>New and Emerging Web Standards  IT&amp;C 210B – S37</vt:lpstr>
      <vt:lpstr>Invention and Standards</vt:lpstr>
      <vt:lpstr>Technological Advances</vt:lpstr>
      <vt:lpstr>Questions to ask about  new technologies</vt:lpstr>
      <vt:lpstr>Open vs. Closed Standards</vt:lpstr>
      <vt:lpstr>Open Standards</vt:lpstr>
      <vt:lpstr>Standardization is Messy</vt:lpstr>
      <vt:lpstr>HTML5 Failed to pick Video and Audio Standards</vt:lpstr>
      <vt:lpstr>PowerPoint Presentation</vt:lpstr>
      <vt:lpstr>Some of the Latest Web Standards</vt:lpstr>
      <vt:lpstr>SVG</vt:lpstr>
      <vt:lpstr>SVG Demo</vt:lpstr>
      <vt:lpstr>SVG Libraries</vt:lpstr>
      <vt:lpstr>Canvas</vt:lpstr>
      <vt:lpstr>Canvas Demo</vt:lpstr>
      <vt:lpstr>Canvas Libraries</vt:lpstr>
      <vt:lpstr>Web RTC</vt:lpstr>
      <vt:lpstr>WebRTC Demo</vt:lpstr>
      <vt:lpstr>WebGL &amp; WebGPU for 3D Rendering</vt:lpstr>
      <vt:lpstr>WebGL Demo</vt:lpstr>
      <vt:lpstr>Ongoing CSS Development</vt:lpstr>
      <vt:lpstr>HTTP/2 is a faster implementation of HTTP(S)</vt:lpstr>
      <vt:lpstr>Other New(er) and Emerging Web Standards</vt:lpstr>
      <vt:lpstr>More: WebAssembly</vt:lpstr>
      <vt:lpstr>Even More</vt:lpstr>
      <vt:lpstr>Polyfills</vt:lpstr>
      <vt:lpstr>Also See…</vt:lpstr>
      <vt:lpstr>Study Questions</vt:lpstr>
    </vt:vector>
  </TitlesOfParts>
  <Company>BYU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Andrew Arnott's .NET presentation</dc:title>
  <dc:creator>J.J. Ekstrom</dc:creator>
  <cp:lastModifiedBy>Brandt Redd</cp:lastModifiedBy>
  <cp:revision>141</cp:revision>
  <dcterms:created xsi:type="dcterms:W3CDTF">2001-11-23T18:14:34Z</dcterms:created>
  <dcterms:modified xsi:type="dcterms:W3CDTF">2024-06-14T21:02:43Z</dcterms:modified>
</cp:coreProperties>
</file>