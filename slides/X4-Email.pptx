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4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C87E1260-DAA0-41DB-8BF8-9FB64A59209F}"/>
    <pc:docChg chg="modSld">
      <pc:chgData name="Brandt Redd" userId="be8ed540b98adac0" providerId="LiveId" clId="{C87E1260-DAA0-41DB-8BF8-9FB64A59209F}" dt="2021-12-01T14:58:29.439" v="0" actId="20577"/>
      <pc:docMkLst>
        <pc:docMk/>
      </pc:docMkLst>
      <pc:sldChg chg="modSp mod">
        <pc:chgData name="Brandt Redd" userId="be8ed540b98adac0" providerId="LiveId" clId="{C87E1260-DAA0-41DB-8BF8-9FB64A59209F}" dt="2021-12-01T14:58:29.439" v="0" actId="20577"/>
        <pc:sldMkLst>
          <pc:docMk/>
          <pc:sldMk cId="221812950" sldId="257"/>
        </pc:sldMkLst>
        <pc:spChg chg="mod">
          <ac:chgData name="Brandt Redd" userId="be8ed540b98adac0" providerId="LiveId" clId="{C87E1260-DAA0-41DB-8BF8-9FB64A59209F}" dt="2021-12-01T14:58:29.439" v="0" actId="20577"/>
          <ac:spMkLst>
            <pc:docMk/>
            <pc:sldMk cId="221812950" sldId="257"/>
            <ac:spMk id="3" creationId="{A287EE47-2764-428B-AECF-BD01E210A446}"/>
          </ac:spMkLst>
        </pc:spChg>
      </pc:sldChg>
    </pc:docChg>
  </pc:docChgLst>
  <pc:docChgLst>
    <pc:chgData name="Brandt Redd" userId="be8ed540b98adac0" providerId="LiveId" clId="{C8DF0656-167C-40E6-8885-34C12B8F99DA}"/>
    <pc:docChg chg="addSld modSld">
      <pc:chgData name="Brandt Redd" userId="be8ed540b98adac0" providerId="LiveId" clId="{C8DF0656-167C-40E6-8885-34C12B8F99DA}" dt="2022-02-11T06:06:06.836" v="20" actId="20577"/>
      <pc:docMkLst>
        <pc:docMk/>
      </pc:docMkLst>
      <pc:sldChg chg="modSp new mod">
        <pc:chgData name="Brandt Redd" userId="be8ed540b98adac0" providerId="LiveId" clId="{C8DF0656-167C-40E6-8885-34C12B8F99DA}" dt="2022-02-11T06:06:06.836" v="20" actId="20577"/>
        <pc:sldMkLst>
          <pc:docMk/>
          <pc:sldMk cId="379124906" sldId="262"/>
        </pc:sldMkLst>
        <pc:spChg chg="mod">
          <ac:chgData name="Brandt Redd" userId="be8ed540b98adac0" providerId="LiveId" clId="{C8DF0656-167C-40E6-8885-34C12B8F99DA}" dt="2022-02-11T06:06:06.836" v="20" actId="20577"/>
          <ac:spMkLst>
            <pc:docMk/>
            <pc:sldMk cId="379124906" sldId="262"/>
            <ac:spMk id="2" creationId="{E8E0B258-F0D3-43AF-BA66-BB4C397F65B7}"/>
          </ac:spMkLst>
        </pc:spChg>
        <pc:spChg chg="mod">
          <ac:chgData name="Brandt Redd" userId="be8ed540b98adac0" providerId="LiveId" clId="{C8DF0656-167C-40E6-8885-34C12B8F99DA}" dt="2022-02-11T06:05:42.740" v="16" actId="6549"/>
          <ac:spMkLst>
            <pc:docMk/>
            <pc:sldMk cId="379124906" sldId="262"/>
            <ac:spMk id="3" creationId="{FEB0A479-E797-47E1-BF57-5CD99977EE34}"/>
          </ac:spMkLst>
        </pc:spChg>
      </pc:sldChg>
    </pc:docChg>
  </pc:docChgLst>
  <pc:docChgLst>
    <pc:chgData name="Brandt Redd" userId="be8ed540b98adac0" providerId="LiveId" clId="{D5756165-0E9C-4246-B435-D6D3B0DCF6C1}"/>
    <pc:docChg chg="modSld">
      <pc:chgData name="Brandt Redd" userId="be8ed540b98adac0" providerId="LiveId" clId="{D5756165-0E9C-4246-B435-D6D3B0DCF6C1}" dt="2024-10-13T02:04:09.131" v="27" actId="20577"/>
      <pc:docMkLst>
        <pc:docMk/>
      </pc:docMkLst>
      <pc:sldChg chg="modSp mod">
        <pc:chgData name="Brandt Redd" userId="be8ed540b98adac0" providerId="LiveId" clId="{D5756165-0E9C-4246-B435-D6D3B0DCF6C1}" dt="2024-10-13T01:58:16.272" v="0" actId="20577"/>
        <pc:sldMkLst>
          <pc:docMk/>
          <pc:sldMk cId="1212505957" sldId="256"/>
        </pc:sldMkLst>
        <pc:spChg chg="mod">
          <ac:chgData name="Brandt Redd" userId="be8ed540b98adac0" providerId="LiveId" clId="{D5756165-0E9C-4246-B435-D6D3B0DCF6C1}" dt="2024-10-13T01:58:16.272" v="0" actId="20577"/>
          <ac:spMkLst>
            <pc:docMk/>
            <pc:sldMk cId="1212505957" sldId="256"/>
            <ac:spMk id="3" creationId="{1A41D6C2-5838-461B-B263-A664ACC9FE24}"/>
          </ac:spMkLst>
        </pc:spChg>
      </pc:sldChg>
      <pc:sldChg chg="modSp mod">
        <pc:chgData name="Brandt Redd" userId="be8ed540b98adac0" providerId="LiveId" clId="{D5756165-0E9C-4246-B435-D6D3B0DCF6C1}" dt="2024-10-13T02:03:32.810" v="21" actId="20577"/>
        <pc:sldMkLst>
          <pc:docMk/>
          <pc:sldMk cId="241609017" sldId="259"/>
        </pc:sldMkLst>
        <pc:spChg chg="mod">
          <ac:chgData name="Brandt Redd" userId="be8ed540b98adac0" providerId="LiveId" clId="{D5756165-0E9C-4246-B435-D6D3B0DCF6C1}" dt="2024-10-13T02:03:32.810" v="21" actId="20577"/>
          <ac:spMkLst>
            <pc:docMk/>
            <pc:sldMk cId="241609017" sldId="259"/>
            <ac:spMk id="3" creationId="{0F37ECF0-89A3-4769-916B-D863625A7B22}"/>
          </ac:spMkLst>
        </pc:spChg>
      </pc:sldChg>
      <pc:sldChg chg="modSp mod">
        <pc:chgData name="Brandt Redd" userId="be8ed540b98adac0" providerId="LiveId" clId="{D5756165-0E9C-4246-B435-D6D3B0DCF6C1}" dt="2024-10-13T02:04:09.131" v="27" actId="20577"/>
        <pc:sldMkLst>
          <pc:docMk/>
          <pc:sldMk cId="2362392010" sldId="260"/>
        </pc:sldMkLst>
        <pc:spChg chg="mod">
          <ac:chgData name="Brandt Redd" userId="be8ed540b98adac0" providerId="LiveId" clId="{D5756165-0E9C-4246-B435-D6D3B0DCF6C1}" dt="2024-10-13T02:04:09.131" v="27" actId="20577"/>
          <ac:spMkLst>
            <pc:docMk/>
            <pc:sldMk cId="2362392010" sldId="260"/>
            <ac:spMk id="3" creationId="{80650B38-ACC3-47FC-8356-EE0423184122}"/>
          </ac:spMkLst>
        </pc:spChg>
      </pc:sldChg>
    </pc:docChg>
  </pc:docChgLst>
  <pc:docChgLst>
    <pc:chgData name="Brandt Redd" userId="be8ed540b98adac0" providerId="LiveId" clId="{4F160C48-1FD8-4AEF-93CC-4CBF77535CB0}"/>
    <pc:docChg chg="undo redo custSel modSld">
      <pc:chgData name="Brandt Redd" userId="be8ed540b98adac0" providerId="LiveId" clId="{4F160C48-1FD8-4AEF-93CC-4CBF77535CB0}" dt="2023-02-24T04:23:03.527" v="1449" actId="20577"/>
      <pc:docMkLst>
        <pc:docMk/>
      </pc:docMkLst>
      <pc:sldChg chg="modSp mod">
        <pc:chgData name="Brandt Redd" userId="be8ed540b98adac0" providerId="LiveId" clId="{4F160C48-1FD8-4AEF-93CC-4CBF77535CB0}" dt="2023-02-24T04:06:47.833" v="369" actId="27636"/>
        <pc:sldMkLst>
          <pc:docMk/>
          <pc:sldMk cId="221812950" sldId="257"/>
        </pc:sldMkLst>
        <pc:spChg chg="mod">
          <ac:chgData name="Brandt Redd" userId="be8ed540b98adac0" providerId="LiveId" clId="{4F160C48-1FD8-4AEF-93CC-4CBF77535CB0}" dt="2023-02-24T03:56:11.879" v="361" actId="1035"/>
          <ac:spMkLst>
            <pc:docMk/>
            <pc:sldMk cId="221812950" sldId="257"/>
            <ac:spMk id="2" creationId="{41FD7E46-4A25-4B13-A1F8-D6D7EB2D889F}"/>
          </ac:spMkLst>
        </pc:spChg>
        <pc:spChg chg="mod">
          <ac:chgData name="Brandt Redd" userId="be8ed540b98adac0" providerId="LiveId" clId="{4F160C48-1FD8-4AEF-93CC-4CBF77535CB0}" dt="2023-02-24T04:06:47.833" v="369" actId="27636"/>
          <ac:spMkLst>
            <pc:docMk/>
            <pc:sldMk cId="221812950" sldId="257"/>
            <ac:spMk id="3" creationId="{A287EE47-2764-428B-AECF-BD01E210A446}"/>
          </ac:spMkLst>
        </pc:spChg>
      </pc:sldChg>
      <pc:sldChg chg="modSp mod">
        <pc:chgData name="Brandt Redd" userId="be8ed540b98adac0" providerId="LiveId" clId="{4F160C48-1FD8-4AEF-93CC-4CBF77535CB0}" dt="2023-02-24T04:07:00.413" v="370" actId="20577"/>
        <pc:sldMkLst>
          <pc:docMk/>
          <pc:sldMk cId="241609017" sldId="259"/>
        </pc:sldMkLst>
        <pc:spChg chg="mod">
          <ac:chgData name="Brandt Redd" userId="be8ed540b98adac0" providerId="LiveId" clId="{4F160C48-1FD8-4AEF-93CC-4CBF77535CB0}" dt="2023-02-24T04:07:00.413" v="370" actId="20577"/>
          <ac:spMkLst>
            <pc:docMk/>
            <pc:sldMk cId="241609017" sldId="259"/>
            <ac:spMk id="3" creationId="{0F37ECF0-89A3-4769-916B-D863625A7B22}"/>
          </ac:spMkLst>
        </pc:spChg>
      </pc:sldChg>
      <pc:sldChg chg="modSp mod">
        <pc:chgData name="Brandt Redd" userId="be8ed540b98adac0" providerId="LiveId" clId="{4F160C48-1FD8-4AEF-93CC-4CBF77535CB0}" dt="2023-02-24T04:23:03.527" v="1449" actId="20577"/>
        <pc:sldMkLst>
          <pc:docMk/>
          <pc:sldMk cId="2362392010" sldId="260"/>
        </pc:sldMkLst>
        <pc:spChg chg="mod">
          <ac:chgData name="Brandt Redd" userId="be8ed540b98adac0" providerId="LiveId" clId="{4F160C48-1FD8-4AEF-93CC-4CBF77535CB0}" dt="2023-02-24T04:20:29.266" v="1094" actId="14100"/>
          <ac:spMkLst>
            <pc:docMk/>
            <pc:sldMk cId="2362392010" sldId="260"/>
            <ac:spMk id="2" creationId="{245BEE51-DAC3-44B2-9098-8018B5DD5A55}"/>
          </ac:spMkLst>
        </pc:spChg>
        <pc:spChg chg="mod">
          <ac:chgData name="Brandt Redd" userId="be8ed540b98adac0" providerId="LiveId" clId="{4F160C48-1FD8-4AEF-93CC-4CBF77535CB0}" dt="2023-02-24T04:23:03.527" v="1449" actId="20577"/>
          <ac:spMkLst>
            <pc:docMk/>
            <pc:sldMk cId="2362392010" sldId="260"/>
            <ac:spMk id="3" creationId="{80650B38-ACC3-47FC-8356-EE04231841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FFE3-BA10-43BC-89B6-2E16C7085983}" type="datetimeFigureOut">
              <a:rPr lang="en-US" smtClean="0"/>
              <a:t>2024-10-12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98BA-6C3D-492C-83CD-6A16EAFC6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3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FFE3-BA10-43BC-89B6-2E16C7085983}" type="datetimeFigureOut">
              <a:rPr lang="en-US" smtClean="0"/>
              <a:t>2024-10-12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98BA-6C3D-492C-83CD-6A16EAFC6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0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FFE3-BA10-43BC-89B6-2E16C7085983}" type="datetimeFigureOut">
              <a:rPr lang="en-US" smtClean="0"/>
              <a:t>2024-10-12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98BA-6C3D-492C-83CD-6A16EAFC6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2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FFE3-BA10-43BC-89B6-2E16C7085983}" type="datetimeFigureOut">
              <a:rPr lang="en-US" smtClean="0"/>
              <a:t>2024-10-12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98BA-6C3D-492C-83CD-6A16EAFC6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44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FFE3-BA10-43BC-89B6-2E16C7085983}" type="datetimeFigureOut">
              <a:rPr lang="en-US" smtClean="0"/>
              <a:t>2024-10-12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98BA-6C3D-492C-83CD-6A16EAFC6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20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FFE3-BA10-43BC-89B6-2E16C7085983}" type="datetimeFigureOut">
              <a:rPr lang="en-US" smtClean="0"/>
              <a:t>2024-10-12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98BA-6C3D-492C-83CD-6A16EAFC6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85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FFE3-BA10-43BC-89B6-2E16C7085983}" type="datetimeFigureOut">
              <a:rPr lang="en-US" smtClean="0"/>
              <a:t>2024-10-12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98BA-6C3D-492C-83CD-6A16EAFC6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7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FFE3-BA10-43BC-89B6-2E16C7085983}" type="datetimeFigureOut">
              <a:rPr lang="en-US" smtClean="0"/>
              <a:t>2024-10-12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98BA-6C3D-492C-83CD-6A16EAFC6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94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FFE3-BA10-43BC-89B6-2E16C7085983}" type="datetimeFigureOut">
              <a:rPr lang="en-US" smtClean="0"/>
              <a:t>2024-10-12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98BA-6C3D-492C-83CD-6A16EAFC6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6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FFE3-BA10-43BC-89B6-2E16C7085983}" type="datetimeFigureOut">
              <a:rPr lang="en-US" smtClean="0"/>
              <a:t>2024-10-12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98BA-6C3D-492C-83CD-6A16EAFC6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9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FFE3-BA10-43BC-89B6-2E16C7085983}" type="datetimeFigureOut">
              <a:rPr lang="en-US" smtClean="0"/>
              <a:t>2024-10-12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98BA-6C3D-492C-83CD-6A16EAFC6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52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0FFE3-BA10-43BC-89B6-2E16C7085983}" type="datetimeFigureOut">
              <a:rPr lang="en-US" smtClean="0"/>
              <a:t>2024-10-12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B98BA-6C3D-492C-83CD-6A16EAFC6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50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IME" TargetMode="External"/><Relationship Id="rId2" Type="http://schemas.openxmlformats.org/officeDocument/2006/relationships/hyperlink" Target="https://www.samlogic.net/articles/smtp-commands-reference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lobalsign.com/en/blog/what-is-s-mi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6334-472A-4D7A-9AC4-25FDC96E52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G" dirty="0"/>
              <a:t>Email Standards and Protocols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1D6C2-5838-461B-B263-A664ACC9FE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G" dirty="0"/>
              <a:t>IT&amp;C 210 Extra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505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7E46-4A25-4B13-A1F8-D6D7EB2D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4497"/>
            <a:ext cx="7886700" cy="693652"/>
          </a:xfrm>
        </p:spPr>
        <p:txBody>
          <a:bodyPr>
            <a:normAutofit fontScale="90000"/>
          </a:bodyPr>
          <a:lstStyle/>
          <a:p>
            <a:r>
              <a:rPr lang="en-AG" dirty="0"/>
              <a:t>Email Protocol Standards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7EE47-2764-428B-AECF-BD01E210A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18149"/>
            <a:ext cx="7886700" cy="5674724"/>
          </a:xfrm>
        </p:spPr>
        <p:txBody>
          <a:bodyPr>
            <a:normAutofit/>
          </a:bodyPr>
          <a:lstStyle/>
          <a:p>
            <a:r>
              <a:rPr lang="en-AG" sz="2000" dirty="0"/>
              <a:t>DNS MX Record</a:t>
            </a:r>
          </a:p>
          <a:p>
            <a:pPr lvl="1"/>
            <a:r>
              <a:rPr lang="en-AG" sz="1800" dirty="0"/>
              <a:t>Mail Exchange</a:t>
            </a:r>
          </a:p>
          <a:p>
            <a:r>
              <a:rPr lang="en-AG" sz="2000" dirty="0"/>
              <a:t>SMTP: Simple Mail Transfer Protocol</a:t>
            </a:r>
          </a:p>
          <a:p>
            <a:pPr lvl="1"/>
            <a:r>
              <a:rPr lang="en-AG" sz="1800" dirty="0"/>
              <a:t>RFC 821, RFC 2821, RFC 5321</a:t>
            </a:r>
          </a:p>
          <a:p>
            <a:pPr lvl="1"/>
            <a:r>
              <a:rPr lang="en-AG" sz="1800" dirty="0"/>
              <a:t>Transfers mail from server to server</a:t>
            </a:r>
          </a:p>
          <a:p>
            <a:r>
              <a:rPr lang="en-AG" sz="2000" dirty="0"/>
              <a:t>POP</a:t>
            </a:r>
            <a:r>
              <a:rPr lang="en-US" sz="2000" dirty="0"/>
              <a:t>3</a:t>
            </a:r>
            <a:r>
              <a:rPr lang="en-AG" sz="2000" dirty="0"/>
              <a:t>: Post Office Protocol</a:t>
            </a:r>
          </a:p>
          <a:p>
            <a:pPr lvl="1"/>
            <a:r>
              <a:rPr lang="en-AG" sz="1800" dirty="0"/>
              <a:t>RFC 918, RFC 932, RFC 1801, RFC 1939</a:t>
            </a:r>
          </a:p>
          <a:p>
            <a:pPr lvl="1"/>
            <a:r>
              <a:rPr lang="en-AG" sz="1800" dirty="0"/>
              <a:t>Transfers mail from server to client application</a:t>
            </a:r>
          </a:p>
          <a:p>
            <a:pPr lvl="1"/>
            <a:r>
              <a:rPr lang="en-AG" sz="1800" dirty="0"/>
              <a:t>Older, but still broadly supported.</a:t>
            </a:r>
          </a:p>
          <a:p>
            <a:r>
              <a:rPr lang="en-AG" sz="2000" dirty="0"/>
              <a:t>IMAP: Internet Message Access Protocol</a:t>
            </a:r>
          </a:p>
          <a:p>
            <a:pPr lvl="1"/>
            <a:r>
              <a:rPr lang="en-AG" sz="1800" dirty="0"/>
              <a:t>RFC 3501, RFC 4551, RFC 9051</a:t>
            </a:r>
          </a:p>
          <a:p>
            <a:pPr lvl="1"/>
            <a:r>
              <a:rPr lang="en-AG" sz="1800" dirty="0"/>
              <a:t>Synchronizes mail between server and client application</a:t>
            </a:r>
          </a:p>
          <a:p>
            <a:pPr lvl="1"/>
            <a:r>
              <a:rPr lang="en-AG" sz="1800" dirty="0"/>
              <a:t>Newer than POP. Broadly supported and used. Doesn’t handle calendar and contacts very well.</a:t>
            </a:r>
            <a:endParaRPr lang="en-US" sz="1800" dirty="0"/>
          </a:p>
          <a:p>
            <a:r>
              <a:rPr lang="en-AG" sz="2000" dirty="0"/>
              <a:t>JMAP: JSON Meta Application Protocol</a:t>
            </a:r>
          </a:p>
          <a:p>
            <a:pPr lvl="1"/>
            <a:r>
              <a:rPr lang="en-AG" sz="1800" dirty="0"/>
              <a:t>RFC 8620 (Approved March 2021, not </a:t>
            </a:r>
            <a:r>
              <a:rPr lang="en-US" sz="1800" dirty="0"/>
              <a:t>yet </a:t>
            </a:r>
            <a:r>
              <a:rPr lang="en-AG" sz="1800" dirty="0"/>
              <a:t>broadly deployed)</a:t>
            </a:r>
            <a:endParaRPr lang="en-US" sz="1800" dirty="0"/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6BD8E63B-BEB7-452D-A658-E88474B83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344" y="1164922"/>
            <a:ext cx="1678488" cy="167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12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B781-7AB6-4FC9-A7B1-4621A0C1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G" dirty="0"/>
              <a:t>Email Format Standards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81F53-78B3-4204-9387-8FC7358AE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G" dirty="0"/>
              <a:t>RFC 822: Basic Email format</a:t>
            </a:r>
          </a:p>
          <a:p>
            <a:r>
              <a:rPr lang="en-AG" dirty="0"/>
              <a:t>RFC 2822: Update to RFC 822</a:t>
            </a:r>
          </a:p>
          <a:p>
            <a:r>
              <a:rPr lang="en-AG" dirty="0"/>
              <a:t>MIME: Multipurpose Internet Mail Extensions</a:t>
            </a:r>
          </a:p>
          <a:p>
            <a:pPr lvl="1"/>
            <a:r>
              <a:rPr lang="en-AG" dirty="0"/>
              <a:t>RFC 1521, RFC 1522, RFC 2045, RFC 2049, RFC 2046, RFC 2047, RFC 4288, RFC 4289</a:t>
            </a:r>
          </a:p>
          <a:p>
            <a:pPr lvl="1"/>
            <a:r>
              <a:rPr lang="en-AG" dirty="0"/>
              <a:t>MIME Formats</a:t>
            </a:r>
          </a:p>
          <a:p>
            <a:pPr lvl="2"/>
            <a:r>
              <a:rPr lang="en-AG" dirty="0"/>
              <a:t>text/plain</a:t>
            </a:r>
          </a:p>
          <a:p>
            <a:pPr lvl="2"/>
            <a:r>
              <a:rPr lang="en-AG" dirty="0"/>
              <a:t>text/html</a:t>
            </a:r>
          </a:p>
          <a:p>
            <a:pPr lvl="2"/>
            <a:r>
              <a:rPr lang="en-AG" dirty="0"/>
              <a:t>image/jpeg</a:t>
            </a:r>
          </a:p>
          <a:p>
            <a:pPr lvl="2"/>
            <a:r>
              <a:rPr lang="en-AG" dirty="0"/>
              <a:t>multipart/mixed</a:t>
            </a:r>
          </a:p>
          <a:p>
            <a:pPr lvl="2"/>
            <a:r>
              <a:rPr lang="en-AG" dirty="0"/>
              <a:t>multipart/alternative</a:t>
            </a:r>
            <a:endParaRPr lang="en-US" dirty="0"/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7C9C4CD7-4DF0-4588-83D7-AF636DA07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69" y="3972521"/>
            <a:ext cx="3387681" cy="239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35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46CE-36E5-4D6F-B961-4B6343971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63599"/>
          </a:xfrm>
        </p:spPr>
        <p:txBody>
          <a:bodyPr/>
          <a:lstStyle/>
          <a:p>
            <a:r>
              <a:rPr lang="en-AG" dirty="0"/>
              <a:t>Security Issues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7ECF0-89A3-4769-916B-D863625A7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09700"/>
            <a:ext cx="7886700" cy="4767263"/>
          </a:xfrm>
        </p:spPr>
        <p:txBody>
          <a:bodyPr/>
          <a:lstStyle/>
          <a:p>
            <a:r>
              <a:rPr lang="en-AG" dirty="0"/>
              <a:t>SMTP supports authentication and encryption</a:t>
            </a:r>
            <a:r>
              <a:rPr lang="en-US" dirty="0"/>
              <a:t>,</a:t>
            </a:r>
            <a:r>
              <a:rPr lang="en-AG" dirty="0"/>
              <a:t> but they are not used consistently on server-to-server messages.</a:t>
            </a:r>
          </a:p>
          <a:p>
            <a:r>
              <a:rPr lang="en-AG" dirty="0"/>
              <a:t>Email may be encrypted in transit but</a:t>
            </a:r>
            <a:r>
              <a:rPr lang="en-US" dirty="0"/>
              <a:t>, typically,</a:t>
            </a:r>
            <a:r>
              <a:rPr lang="en-AG" dirty="0"/>
              <a:t> it is not end-to-end encrypted. Therefore, nothing other than terms of service prevent your email provider from reading your messages.</a:t>
            </a:r>
          </a:p>
          <a:p>
            <a:r>
              <a:rPr lang="en-AG" dirty="0"/>
              <a:t>Most companies retain the right to read their employees’ email.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09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EE51-DAC3-44B2-9098-8018B5DD5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47657"/>
          </a:xfrm>
        </p:spPr>
        <p:txBody>
          <a:bodyPr/>
          <a:lstStyle/>
          <a:p>
            <a:r>
              <a:rPr lang="en-AG" dirty="0"/>
              <a:t>S/MIME Standard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50B38-ACC3-47FC-8356-EE0423184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4820"/>
            <a:ext cx="7886700" cy="5280091"/>
          </a:xfrm>
        </p:spPr>
        <p:txBody>
          <a:bodyPr>
            <a:normAutofit fontScale="92500"/>
          </a:bodyPr>
          <a:lstStyle/>
          <a:p>
            <a:r>
              <a:rPr lang="en-AG" sz="2400" dirty="0"/>
              <a:t>Secure/Multipurpose Internet Mail Extensions</a:t>
            </a:r>
          </a:p>
          <a:p>
            <a:r>
              <a:rPr lang="en-AG" sz="2400" dirty="0"/>
              <a:t>Uses public key encryption to provide end-to-end</a:t>
            </a:r>
            <a:br>
              <a:rPr lang="en-US" sz="2400" dirty="0"/>
            </a:br>
            <a:r>
              <a:rPr lang="en-AG" sz="2400" dirty="0"/>
              <a:t>encrypted email and for digital signatures to validate the sender.</a:t>
            </a:r>
          </a:p>
          <a:p>
            <a:r>
              <a:rPr lang="en-US" sz="2400" dirty="0"/>
              <a:t>Typically r</a:t>
            </a:r>
            <a:r>
              <a:rPr lang="en-AG" sz="2400" dirty="0"/>
              <a:t>equires client software</a:t>
            </a:r>
            <a:r>
              <a:rPr lang="en-US" sz="2400" dirty="0"/>
              <a:t> to achieve the promised security.</a:t>
            </a:r>
            <a:endParaRPr lang="en-AG" sz="2400" dirty="0"/>
          </a:p>
          <a:p>
            <a:r>
              <a:rPr lang="en-AG" sz="2400" dirty="0"/>
              <a:t>Originally defined in RFC 2633 in 1999</a:t>
            </a:r>
            <a:r>
              <a:rPr lang="en-US" sz="2400" dirty="0"/>
              <a:t>. Updated by RFC 2633 (in 2004), RFC 3851 (in 2010), and RFC 8551 (in 2019).</a:t>
            </a:r>
          </a:p>
          <a:p>
            <a:r>
              <a:rPr lang="en-US" sz="2400" dirty="0"/>
              <a:t>Support exists but most people don’t know about it or use it.</a:t>
            </a:r>
          </a:p>
          <a:p>
            <a:pPr lvl="1"/>
            <a:r>
              <a:rPr lang="en-US" sz="2000" dirty="0"/>
              <a:t>Gmail only supports S/MIME in enterprise and education editions. The certificate and keys are stored on the server which means a bad actor at Google </a:t>
            </a:r>
            <a:r>
              <a:rPr lang="en-US" sz="2000"/>
              <a:t>could still access </a:t>
            </a:r>
            <a:r>
              <a:rPr lang="en-US" sz="2000" dirty="0"/>
              <a:t>your mail.</a:t>
            </a:r>
          </a:p>
          <a:p>
            <a:pPr lvl="1"/>
            <a:r>
              <a:rPr lang="en-US" sz="2000" dirty="0"/>
              <a:t>Exchange online (for business) supports S/MIME through a browser add-in.</a:t>
            </a:r>
          </a:p>
          <a:p>
            <a:r>
              <a:rPr lang="en-US" sz="2400" dirty="0"/>
              <a:t>The challenge is obtaining and exchanging certificates. Certificates can be sent by sending a signed, but not encrypted, message.</a:t>
            </a:r>
            <a:endParaRPr lang="en-AG" sz="2400" dirty="0"/>
          </a:p>
        </p:txBody>
      </p:sp>
      <p:pic>
        <p:nvPicPr>
          <p:cNvPr id="3074" name="Picture 2" descr="See the source image">
            <a:extLst>
              <a:ext uri="{FF2B5EF4-FFF2-40B4-BE49-F238E27FC236}">
                <a16:creationId xmlns:a16="http://schemas.microsoft.com/office/drawing/2014/main" id="{0AA6ED11-E743-4322-88E2-68ADEB2FB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354" y="133089"/>
            <a:ext cx="1734646" cy="1858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392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21C8B-11FF-4F40-984D-326F8E7D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G" dirty="0"/>
              <a:t>Demos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ABE88-397A-4A7F-863E-E088A5F49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G"/>
              <a:t>DNS MX</a:t>
            </a:r>
          </a:p>
          <a:p>
            <a:r>
              <a:rPr lang="en-AG" dirty="0"/>
              <a:t>SMTP</a:t>
            </a:r>
          </a:p>
          <a:p>
            <a:r>
              <a:rPr lang="en-AG" dirty="0"/>
              <a:t>RFC 822 Email Format</a:t>
            </a:r>
          </a:p>
          <a:p>
            <a:r>
              <a:rPr lang="en-AG" dirty="0"/>
              <a:t>MIME and Multipart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652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0B258-F0D3-43AF-BA66-BB4C397F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0A479-E797-47E1-BF57-5CD99977E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88FF"/>
                </a:solidFill>
                <a:effectLst/>
                <a:latin typeface="Nunito Sans" pitchFamily="2" charset="0"/>
                <a:hlinkClick r:id="rId2"/>
              </a:rPr>
              <a:t>SMTP Commands Reference</a:t>
            </a:r>
            <a:endParaRPr lang="en-US" b="0" i="0" dirty="0">
              <a:solidFill>
                <a:srgbClr val="0088FF"/>
              </a:solidFill>
              <a:effectLst/>
              <a:latin typeface="Nunito Sans" pitchFamily="2" charset="0"/>
            </a:endParaRPr>
          </a:p>
          <a:p>
            <a:r>
              <a:rPr lang="en-US" b="0" i="0" dirty="0">
                <a:solidFill>
                  <a:srgbClr val="0088FF"/>
                </a:solidFill>
                <a:effectLst/>
                <a:latin typeface="Nunito Sans" pitchFamily="2" charset="0"/>
                <a:hlinkClick r:id="rId3"/>
              </a:rPr>
              <a:t>MIME (Wikipedia)</a:t>
            </a:r>
            <a:endParaRPr lang="en-US" b="0" i="0" dirty="0">
              <a:solidFill>
                <a:srgbClr val="0088FF"/>
              </a:solidFill>
              <a:effectLst/>
              <a:latin typeface="Nunito Sans" pitchFamily="2" charset="0"/>
            </a:endParaRPr>
          </a:p>
          <a:p>
            <a:r>
              <a:rPr lang="en-US" b="0" i="0" dirty="0">
                <a:solidFill>
                  <a:srgbClr val="0088FF"/>
                </a:solidFill>
                <a:effectLst/>
                <a:latin typeface="Nunito Sans" pitchFamily="2" charset="0"/>
                <a:hlinkClick r:id="rId4"/>
              </a:rPr>
              <a:t>What is S/MIME (Secure Mail)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24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431</Words>
  <Application>Microsoft Office PowerPoint</Application>
  <PresentationFormat>On-screen Show (4:3)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Nunito Sans</vt:lpstr>
      <vt:lpstr>Office Theme</vt:lpstr>
      <vt:lpstr>Email Standards and Protocols</vt:lpstr>
      <vt:lpstr>Email Protocol Standards</vt:lpstr>
      <vt:lpstr>Email Format Standards</vt:lpstr>
      <vt:lpstr>Security Issues</vt:lpstr>
      <vt:lpstr>S/MIME Standard</vt:lpstr>
      <vt:lpstr>Demos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Standards and Protocols</dc:title>
  <dc:creator>Brandt Redd</dc:creator>
  <cp:lastModifiedBy>Brandt Redd</cp:lastModifiedBy>
  <cp:revision>1</cp:revision>
  <dcterms:created xsi:type="dcterms:W3CDTF">2021-12-01T03:45:46Z</dcterms:created>
  <dcterms:modified xsi:type="dcterms:W3CDTF">2024-10-13T02:04:17Z</dcterms:modified>
</cp:coreProperties>
</file>